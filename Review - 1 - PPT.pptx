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64" r:id="rId3"/>
    <p:sldId id="263" r:id="rId5"/>
    <p:sldId id="265" r:id="rId6"/>
    <p:sldId id="266" r:id="rId7"/>
    <p:sldId id="267" r:id="rId8"/>
    <p:sldId id="268" r:id="rId9"/>
    <p:sldId id="269" r:id="rId10"/>
    <p:sldId id="270" r:id="rId11"/>
    <p:sldId id="271" r:id="rId12"/>
    <p:sldId id="272" r:id="rId13"/>
    <p:sldId id="273" r:id="rId14"/>
    <p:sldId id="274" r:id="rId15"/>
    <p:sldId id="275" r:id="rId16"/>
    <p:sldId id="276" r:id="rId17"/>
    <p:sldId id="277" r:id="rId18"/>
    <p:sldId id="278" r:id="rId19"/>
    <p:sldId id="279" r:id="rId20"/>
    <p:sldId id="280" r:id="rId21"/>
    <p:sldId id="281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C7E69"/>
    <a:srgbClr val="EC7E32"/>
    <a:srgbClr val="E77E32"/>
    <a:srgbClr val="E77E69"/>
    <a:srgbClr val="FF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99" autoAdjust="0"/>
    <p:restoredTop sz="94660"/>
  </p:normalViewPr>
  <p:slideViewPr>
    <p:cSldViewPr snapToGrid="0">
      <p:cViewPr>
        <p:scale>
          <a:sx n="75" d="100"/>
          <a:sy n="75" d="100"/>
        </p:scale>
        <p:origin x="931" y="5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5" Type="http://schemas.openxmlformats.org/officeDocument/2006/relationships/tableStyles" Target="tableStyles.xml"/><Relationship Id="rId24" Type="http://schemas.openxmlformats.org/officeDocument/2006/relationships/viewProps" Target="viewProps.xml"/><Relationship Id="rId23" Type="http://schemas.openxmlformats.org/officeDocument/2006/relationships/presProps" Target="presProps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010C68-B77B-4431-A0A7-693CF58E734A}" type="datetimeFigureOut">
              <a:rPr lang="en-IN" smtClean="0"/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B2EA21-F04E-4710-B9FC-7A1962EBE760}" type="slidenum">
              <a:rPr lang="en-IN" smtClean="0"/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B2EA21-F04E-4710-B9FC-7A1962EBE760}" type="slidenum">
              <a:rPr lang="en-IN" smtClean="0"/>
            </a:fld>
            <a:endParaRPr lang="en-I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B2EA21-F04E-4710-B9FC-7A1962EBE760}" type="slidenum">
              <a:rPr lang="en-IN" smtClean="0"/>
            </a:fld>
            <a:endParaRPr lang="en-I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B2EA21-F04E-4710-B9FC-7A1962EBE760}" type="slidenum">
              <a:rPr lang="en-IN" smtClean="0"/>
            </a:fld>
            <a:endParaRPr lang="en-I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B2EA21-F04E-4710-B9FC-7A1962EBE760}" type="slidenum">
              <a:rPr lang="en-IN" smtClean="0"/>
            </a:fld>
            <a:endParaRPr lang="en-I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B2EA21-F04E-4710-B9FC-7A1962EBE760}" type="slidenum">
              <a:rPr lang="en-IN" smtClean="0"/>
            </a:fld>
            <a:endParaRPr lang="en-IN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B2EA21-F04E-4710-B9FC-7A1962EBE760}" type="slidenum">
              <a:rPr lang="en-IN" smtClean="0"/>
            </a:fld>
            <a:endParaRPr lang="en-IN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B2EA21-F04E-4710-B9FC-7A1962EBE760}" type="slidenum">
              <a:rPr lang="en-IN" smtClean="0"/>
            </a:fld>
            <a:endParaRPr lang="en-IN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B2EA21-F04E-4710-B9FC-7A1962EBE760}" type="slidenum">
              <a:rPr lang="en-IN" smtClean="0"/>
            </a:fld>
            <a:endParaRPr lang="en-IN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B2EA21-F04E-4710-B9FC-7A1962EBE760}" type="slidenum">
              <a:rPr lang="en-IN" smtClean="0"/>
            </a:fld>
            <a:endParaRPr lang="en-IN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B2EA21-F04E-4710-B9FC-7A1962EBE760}" type="slidenum">
              <a:rPr lang="en-IN" smtClean="0"/>
            </a:fld>
            <a:endParaRPr lang="en-IN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B2EA21-F04E-4710-B9FC-7A1962EBE760}" type="slidenum">
              <a:rPr lang="en-IN" smtClean="0"/>
            </a:fld>
            <a:endParaRPr lang="en-IN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B2EA21-F04E-4710-B9FC-7A1962EBE760}" type="slidenum">
              <a:rPr lang="en-IN" smtClean="0"/>
            </a:fld>
            <a:endParaRPr lang="en-IN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B2EA21-F04E-4710-B9FC-7A1962EBE760}" type="slidenum">
              <a:rPr lang="en-IN" smtClean="0"/>
            </a:fld>
            <a:endParaRPr lang="en-IN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B2EA21-F04E-4710-B9FC-7A1962EBE760}" type="slidenum">
              <a:rPr lang="en-IN" smtClean="0"/>
            </a:fld>
            <a:endParaRPr lang="en-IN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B2EA21-F04E-4710-B9FC-7A1962EBE760}" type="slidenum">
              <a:rPr lang="en-IN" smtClean="0"/>
            </a:fld>
            <a:endParaRPr lang="en-IN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B2EA21-F04E-4710-B9FC-7A1962EBE760}" type="slidenum">
              <a:rPr lang="en-IN" smtClean="0"/>
            </a:fld>
            <a:endParaRPr lang="en-IN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B2EA21-F04E-4710-B9FC-7A1962EBE760}" type="slidenum">
              <a:rPr lang="en-IN" smtClean="0"/>
            </a:fld>
            <a:endParaRPr lang="en-IN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B2EA21-F04E-4710-B9FC-7A1962EBE760}" type="slidenum">
              <a:rPr lang="en-IN" smtClean="0"/>
            </a:fld>
            <a:endParaRPr lang="en-IN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B2EA21-F04E-4710-B9FC-7A1962EBE760}" type="slidenum">
              <a:rPr lang="en-IN" smtClean="0"/>
            </a:fld>
            <a:endParaRPr lang="en-I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881051-4A15-4975-B283-5AE4382EA000}" type="datetime1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VVIT @ Dept. CSM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N" dirty="0"/>
              <a:t>Slide </a:t>
            </a:r>
            <a:fld id="{0F06A4E2-163B-4ABA-8562-AD05AC3F17C5}" type="slidenum">
              <a:rPr lang="en-IN" smtClean="0"/>
            </a:fld>
            <a:r>
              <a:rPr lang="en-IN" dirty="0"/>
              <a:t> 75</a:t>
            </a:r>
            <a:endParaRPr lang="en-IN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8024DB-6B9A-4615-862D-DCC9162E1D46}" type="datetime1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VVIT @ Dept. CSM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6A4E2-163B-4ABA-8562-AD05AC3F17C5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6FCEB4-FD16-4B07-9207-FB300F7B14E0}" type="datetime1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VVIT @ Dept. CSM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6A4E2-163B-4ABA-8562-AD05AC3F17C5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49330-105E-4C2D-A945-D7CB0B65AA0D}" type="datetime1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VVIT @ Dept. CSM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6A4E2-163B-4ABA-8562-AD05AC3F17C5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A2F794-44E1-4BEF-BC28-A1686AB91B35}" type="datetime1">
              <a:rPr lang="en-IN" smtClean="0"/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VVIT @ Dept. CSM</a:t>
            </a:r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6A4E2-163B-4ABA-8562-AD05AC3F17C5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3309A1-C81B-427D-BCEA-27B741B28E1A}" type="datetime1">
              <a:rPr lang="en-IN" smtClean="0"/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VVIT @ Dept. CSM</a:t>
            </a:r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6A4E2-163B-4ABA-8562-AD05AC3F17C5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6757F5-B3DD-41B2-8AD1-E2C7F01E8325}" type="datetime1">
              <a:rPr lang="en-IN" smtClean="0"/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VVIT @ Dept. CSM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6A4E2-163B-4ABA-8562-AD05AC3F17C5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32F12-6279-426C-8A42-8E638B69DA5E}" type="datetime1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VVIT @ Dept. CSM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6A4E2-163B-4ABA-8562-AD05AC3F17C5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B4110-22B7-47D9-9F58-54C5B302AF6D}" type="datetime1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VVIT @ Dept. CSM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6A4E2-163B-4ABA-8562-AD05AC3F17C5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575400-B1DF-4AF6-AB50-CBCE8962669C}" type="datetime1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VVIT @ Dept. CSM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6A4E2-163B-4ABA-8562-AD05AC3F17C5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A8D284-3CDB-49DE-A927-05878722C64F}" type="datetime1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VVIT @ Dept. CSM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6A4E2-163B-4ABA-8562-AD05AC3F17C5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2B7110-61B4-45BA-A110-4FCE83D5E720}" type="datetime1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VVIT @ Dept. CSM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06A4E2-163B-4ABA-8562-AD05AC3F17C5}" type="slidenum">
              <a:rPr lang="en-IN" smtClean="0"/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1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3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5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1" Type="http://schemas.openxmlformats.org/officeDocument/2006/relationships/image" Target="../media/image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8.xml"/><Relationship Id="rId3" Type="http://schemas.openxmlformats.org/officeDocument/2006/relationships/slideLayout" Target="../slideLayouts/slideLayout1.xml"/><Relationship Id="rId2" Type="http://schemas.openxmlformats.org/officeDocument/2006/relationships/tags" Target="../tags/tag1.xml"/><Relationship Id="rId1" Type="http://schemas.openxmlformats.org/officeDocument/2006/relationships/image" Target="../media/image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>
                <a:solidFill>
                  <a:srgbClr val="E77E69"/>
                </a:solidFill>
              </a:rPr>
              <a:t>23-09-2026</a:t>
            </a:r>
            <a:endParaRPr lang="en-IN" dirty="0">
              <a:solidFill>
                <a:srgbClr val="E77E69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6A4E2-163B-4ABA-8562-AD05AC3F17C5}" type="slidenum">
              <a:rPr lang="en-IN" smtClean="0">
                <a:solidFill>
                  <a:srgbClr val="E77E69"/>
                </a:solidFill>
              </a:rPr>
            </a:fld>
            <a:endParaRPr lang="en-IN" dirty="0">
              <a:solidFill>
                <a:srgbClr val="E77E69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8880" y="184428"/>
            <a:ext cx="2174240" cy="151743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84698" y="1714110"/>
            <a:ext cx="982260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AI-Based Research Paper Novelty Assessment System Using Retrieval-Augmented Generation (RAG)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864925" y="2751597"/>
            <a:ext cx="25314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solidFill>
                  <a:srgbClr val="E77E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Major Project Review - 1</a:t>
            </a:r>
            <a:endParaRPr lang="en-IN" dirty="0">
              <a:solidFill>
                <a:srgbClr val="E77E6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974506" y="3102396"/>
            <a:ext cx="22429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Batch ID: AIML-B06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43911" y="4841655"/>
            <a:ext cx="377584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 . M . Srinivasa Rao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Associate Professor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CSE(AI&amp;ML),VVIT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298325" y="4415471"/>
            <a:ext cx="302697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i="1" dirty="0">
                <a:solidFill>
                  <a:srgbClr val="E77E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Batch Members</a:t>
            </a:r>
            <a:endParaRPr lang="en-IN" sz="2000" i="1" dirty="0">
              <a:solidFill>
                <a:srgbClr val="E77E6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186855" y="4936546"/>
            <a:ext cx="31609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P. Aishwarya – 23BQ1A61A6.</a:t>
            </a:r>
            <a:endParaRPr lang="en-IN" dirty="0"/>
          </a:p>
          <a:p>
            <a:r>
              <a:rPr lang="en-IN" dirty="0"/>
              <a:t>K. Sai Haneesha – 23BQ1A6171. </a:t>
            </a:r>
            <a:endParaRPr lang="en-IN" dirty="0"/>
          </a:p>
        </p:txBody>
      </p:sp>
      <p:sp>
        <p:nvSpPr>
          <p:cNvPr id="13" name="TextBox 12"/>
          <p:cNvSpPr txBox="1"/>
          <p:nvPr/>
        </p:nvSpPr>
        <p:spPr>
          <a:xfrm>
            <a:off x="8497614" y="4936546"/>
            <a:ext cx="33895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K. Harshitha – 23BQ1A6156.</a:t>
            </a:r>
            <a:endParaRPr lang="en-IN" dirty="0"/>
          </a:p>
          <a:p>
            <a:r>
              <a:rPr lang="en-IN" dirty="0"/>
              <a:t>K. Dhanesh Babu– 23BQ1A6158. </a:t>
            </a:r>
            <a:endParaRPr lang="en-IN" dirty="0"/>
          </a:p>
        </p:txBody>
      </p:sp>
      <p:sp>
        <p:nvSpPr>
          <p:cNvPr id="14" name="TextBox 13"/>
          <p:cNvSpPr txBox="1"/>
          <p:nvPr/>
        </p:nvSpPr>
        <p:spPr>
          <a:xfrm>
            <a:off x="1631731" y="4315108"/>
            <a:ext cx="17657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i="1" dirty="0">
                <a:solidFill>
                  <a:srgbClr val="E77E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Guide</a:t>
            </a:r>
            <a:endParaRPr lang="en-IN" sz="2000" i="1" dirty="0">
              <a:solidFill>
                <a:srgbClr val="E77E6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Footer Placeholder 11"/>
          <p:cNvSpPr>
            <a:spLocks noGrp="1"/>
          </p:cNvSpPr>
          <p:nvPr>
            <p:ph type="ftr" sz="quarter" idx="11"/>
          </p:nvPr>
        </p:nvSpPr>
        <p:spPr>
          <a:xfrm>
            <a:off x="3999271" y="6460922"/>
            <a:ext cx="4114800" cy="365125"/>
          </a:xfrm>
        </p:spPr>
        <p:txBody>
          <a:bodyPr/>
          <a:lstStyle/>
          <a:p>
            <a:r>
              <a:rPr lang="en-IN" dirty="0">
                <a:solidFill>
                  <a:srgbClr val="E77E32"/>
                </a:solidFill>
              </a:rPr>
              <a:t>Dept. CSM @ VVIT</a:t>
            </a:r>
            <a:endParaRPr lang="en-IN" dirty="0">
              <a:solidFill>
                <a:srgbClr val="E77E3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-1" y="6980"/>
            <a:ext cx="12192000" cy="837398"/>
          </a:xfrm>
          <a:prstGeom prst="rect">
            <a:avLst/>
          </a:prstGeom>
          <a:solidFill>
            <a:srgbClr val="E77E69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6451517"/>
            <a:ext cx="12192000" cy="393289"/>
          </a:xfrm>
          <a:prstGeom prst="rect">
            <a:avLst/>
          </a:prstGeom>
          <a:solidFill>
            <a:srgbClr val="E77E69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Date Placeholder 10"/>
          <p:cNvSpPr>
            <a:spLocks noGrp="1"/>
          </p:cNvSpPr>
          <p:nvPr>
            <p:ph type="dt" sz="half" idx="10"/>
          </p:nvPr>
        </p:nvSpPr>
        <p:spPr>
          <a:xfrm>
            <a:off x="0" y="6460922"/>
            <a:ext cx="997974" cy="365125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23-09-2026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1"/>
          </p:nvPr>
        </p:nvSpPr>
        <p:spPr>
          <a:xfrm>
            <a:off x="3999271" y="6460922"/>
            <a:ext cx="4114800" cy="365125"/>
          </a:xfrm>
        </p:spPr>
        <p:txBody>
          <a:bodyPr/>
          <a:lstStyle/>
          <a:p>
            <a:r>
              <a:rPr lang="en-IN" dirty="0">
                <a:solidFill>
                  <a:schemeClr val="tx1"/>
                </a:solidFill>
              </a:rPr>
              <a:t>Dept. CSM @ VVIT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>
          <a:xfrm>
            <a:off x="11227443" y="6478792"/>
            <a:ext cx="876067" cy="379208"/>
          </a:xfrm>
        </p:spPr>
        <p:txBody>
          <a:bodyPr/>
          <a:lstStyle/>
          <a:p>
            <a:fld id="{0F06A4E2-163B-4ABA-8562-AD05AC3F17C5}" type="slidenum">
              <a:rPr lang="en-IN" sz="1800" smtClean="0">
                <a:solidFill>
                  <a:schemeClr val="tx1"/>
                </a:solidFill>
              </a:rPr>
            </a:fld>
            <a:endParaRPr lang="en-IN" sz="1800" dirty="0">
              <a:solidFill>
                <a:schemeClr val="tx1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 flipH="1">
            <a:off x="104186" y="1042701"/>
            <a:ext cx="11463283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rapid growth of scientific publications makes it difficult for researchers to manually evaluate the originality and novelty of a new research paper.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plagiarism and similarity detection tools mainly identify copied or textually similar content, but they do not adequately assess conceptual novelty.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research paper may use different wording while presenting an existing research idea, methodology, dataset, or contribution.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Researchers therefore need to manually search and compare large amounts of existing literature to determine whether their work provides new contributions or addresses an unexplored research gap.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 novelty assessment approaches based mainly on citations or textual similarity may not capture the deeper relationship between research ideas.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8237483" y="31393"/>
            <a:ext cx="386602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Guide: 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Dr.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 . Srinivasa Rao</a:t>
            </a: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Batch ID: AIML-B06</a:t>
            </a: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Regd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No#1 </a:t>
            </a:r>
            <a:r>
              <a:rPr lang="en-IN" sz="1200" dirty="0"/>
              <a:t>23BQ1A61A6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           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Regd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No#2 </a:t>
            </a:r>
            <a:r>
              <a:rPr lang="en-IN" sz="1200" dirty="0"/>
              <a:t>23BQ1A6171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Regd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No#3 </a:t>
            </a:r>
            <a:r>
              <a:rPr lang="en-IN" sz="1200" dirty="0"/>
              <a:t>23BQ1A6156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           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Regd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No#4 </a:t>
            </a:r>
            <a:r>
              <a:rPr lang="en-IN" sz="1200" dirty="0"/>
              <a:t>23BQ1A6158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endParaRPr lang="en-IN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86" y="92353"/>
            <a:ext cx="993618" cy="69346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201991" y="82617"/>
            <a:ext cx="77534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IN" sz="1800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AI-Based Research Paper Novelty Assessment System Using Retrieval-Augmented Generation (RAG)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-1" y="6980"/>
            <a:ext cx="12192000" cy="837398"/>
          </a:xfrm>
          <a:prstGeom prst="rect">
            <a:avLst/>
          </a:prstGeom>
          <a:solidFill>
            <a:srgbClr val="E77E69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6451517"/>
            <a:ext cx="12192000" cy="393289"/>
          </a:xfrm>
          <a:prstGeom prst="rect">
            <a:avLst/>
          </a:prstGeom>
          <a:solidFill>
            <a:srgbClr val="E77E69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Date Placeholder 10"/>
          <p:cNvSpPr>
            <a:spLocks noGrp="1"/>
          </p:cNvSpPr>
          <p:nvPr>
            <p:ph type="dt" sz="half" idx="10"/>
          </p:nvPr>
        </p:nvSpPr>
        <p:spPr>
          <a:xfrm>
            <a:off x="0" y="6460922"/>
            <a:ext cx="997974" cy="365125"/>
          </a:xfrm>
        </p:spPr>
        <p:txBody>
          <a:bodyPr/>
          <a:lstStyle/>
          <a:p>
            <a:r>
              <a:rPr lang="en-IN" dirty="0">
                <a:solidFill>
                  <a:schemeClr val="tx1"/>
                </a:solidFill>
              </a:rPr>
              <a:t>23-09-2026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>
          <a:xfrm>
            <a:off x="11227443" y="6478792"/>
            <a:ext cx="876067" cy="379208"/>
          </a:xfrm>
        </p:spPr>
        <p:txBody>
          <a:bodyPr/>
          <a:lstStyle/>
          <a:p>
            <a:fld id="{0F06A4E2-163B-4ABA-8562-AD05AC3F17C5}" type="slidenum">
              <a:rPr lang="en-IN" sz="1800" smtClean="0">
                <a:solidFill>
                  <a:schemeClr val="tx1"/>
                </a:solidFill>
              </a:rPr>
            </a:fld>
            <a:endParaRPr lang="en-IN" sz="1800" dirty="0">
              <a:solidFill>
                <a:schemeClr val="tx1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 flipH="1">
            <a:off x="135928" y="877163"/>
            <a:ext cx="20638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8213834" y="31393"/>
            <a:ext cx="388967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Guide: 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Dr.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 . Srinivasa Rao</a:t>
            </a: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Batch ID: AIML-B06</a:t>
            </a: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Regd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No#1 </a:t>
            </a:r>
            <a:r>
              <a:rPr lang="en-IN" sz="1200" dirty="0"/>
              <a:t>23BQ1A61A6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          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Regd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No#2 </a:t>
            </a:r>
            <a:r>
              <a:rPr lang="en-IN" sz="1200" dirty="0"/>
              <a:t>23BQ1A6171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Regd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No#3 </a:t>
            </a:r>
            <a:r>
              <a:rPr lang="en-IN" sz="1200" dirty="0"/>
              <a:t>23BQ1A6156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          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Regd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No#4 </a:t>
            </a:r>
            <a:r>
              <a:rPr lang="en-IN" sz="1200" dirty="0"/>
              <a:t>23BQ1A6158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endParaRPr lang="en-IN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86" y="92353"/>
            <a:ext cx="993618" cy="69346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201991" y="82617"/>
            <a:ext cx="77534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00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AI-Based Research Paper Novelty Assessment System Using Retrieval-Augmented Generation (RAG)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Footer Placeholder 11"/>
          <p:cNvSpPr>
            <a:spLocks noGrp="1"/>
          </p:cNvSpPr>
          <p:nvPr>
            <p:ph type="ftr" sz="quarter" idx="11"/>
          </p:nvPr>
        </p:nvSpPr>
        <p:spPr>
          <a:xfrm>
            <a:off x="3999271" y="6460922"/>
            <a:ext cx="4114800" cy="365125"/>
          </a:xfrm>
        </p:spPr>
        <p:txBody>
          <a:bodyPr/>
          <a:lstStyle/>
          <a:p>
            <a:r>
              <a:rPr lang="en-IN" dirty="0">
                <a:solidFill>
                  <a:schemeClr val="tx1"/>
                </a:solidFill>
              </a:rPr>
              <a:t>Dept. CSM @ VVIT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 flipH="1">
            <a:off x="135928" y="1326501"/>
            <a:ext cx="119201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| Proposed Method | </a:t>
            </a:r>
            <a:r>
              <a:rPr lang="en-IN" sz="14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&amp; Setup | key Results | Strengths &amp; Limitations | Relevance to my research |</a:t>
            </a:r>
            <a:endParaRPr lang="en-IN" sz="1400" dirty="0">
              <a:solidFill>
                <a:schemeClr val="bg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082799" y="862390"/>
            <a:ext cx="1002070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/>
              <a:t>Ref 01 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Evaluating and Enhancing Large Language Models for Novelty Assessment in Scholarly Publications</a:t>
            </a:r>
            <a:b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Ethan Lin et al., 2025 | Workshop on AI and Scientific Discovery (ACL) 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35925" y="1849721"/>
            <a:ext cx="11920141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paper proposes RAG-Novelty, a retrieval-augmented method that helps LLMs assess the novelty of scholarly research papers using relevant existing literature.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title, abstract, and available metadata of a research paper are used as the input, with the paper abstract serving as the main query for retrieving related research.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collection of research papers is converted into embeddings, and a retriever uses cosine similarity to find the most relevant Top-K papers from the indexed corpus.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make the evaluation realistic, the method applies temporal filtering, so papers published after the query paper are not considered and the query papers themselves are excluded from retrieval.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retrieved papers are combined with the query paper information and provided to an LLM through a self-reflection-based prompt, allowing the model to assess the paper using additional research context.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Finally, the LLM evaluates and scores the novelty of the query paper from 0 to 10, using the retrieved literature and publication-time information to support its assessment.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-1" y="6980"/>
            <a:ext cx="12192000" cy="837398"/>
          </a:xfrm>
          <a:prstGeom prst="rect">
            <a:avLst/>
          </a:prstGeom>
          <a:solidFill>
            <a:srgbClr val="E77E69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6451517"/>
            <a:ext cx="12192000" cy="393289"/>
          </a:xfrm>
          <a:prstGeom prst="rect">
            <a:avLst/>
          </a:prstGeom>
          <a:solidFill>
            <a:srgbClr val="E77E69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Date Placeholder 10"/>
          <p:cNvSpPr>
            <a:spLocks noGrp="1"/>
          </p:cNvSpPr>
          <p:nvPr>
            <p:ph type="dt" sz="half" idx="10"/>
          </p:nvPr>
        </p:nvSpPr>
        <p:spPr>
          <a:xfrm>
            <a:off x="0" y="6460922"/>
            <a:ext cx="997974" cy="365125"/>
          </a:xfrm>
        </p:spPr>
        <p:txBody>
          <a:bodyPr/>
          <a:lstStyle/>
          <a:p>
            <a:r>
              <a:rPr lang="en-IN" dirty="0">
                <a:solidFill>
                  <a:schemeClr val="tx1"/>
                </a:solidFill>
              </a:rPr>
              <a:t>23-09-2026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>
          <a:xfrm>
            <a:off x="11227443" y="6478792"/>
            <a:ext cx="876067" cy="379208"/>
          </a:xfrm>
        </p:spPr>
        <p:txBody>
          <a:bodyPr/>
          <a:lstStyle/>
          <a:p>
            <a:fld id="{0F06A4E2-163B-4ABA-8562-AD05AC3F17C5}" type="slidenum">
              <a:rPr lang="en-IN" sz="1800" smtClean="0">
                <a:solidFill>
                  <a:schemeClr val="tx1"/>
                </a:solidFill>
              </a:rPr>
            </a:fld>
            <a:endParaRPr lang="en-IN" sz="1800" dirty="0">
              <a:solidFill>
                <a:schemeClr val="tx1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 flipH="1">
            <a:off x="135928" y="877163"/>
            <a:ext cx="20638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8237483" y="39276"/>
            <a:ext cx="386602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Guide: 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Dr.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 . Srinivasa Rao</a:t>
            </a: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Batch ID: AIML-B06</a:t>
            </a: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Regd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No#1 </a:t>
            </a:r>
            <a:r>
              <a:rPr lang="en-IN" sz="1200" dirty="0"/>
              <a:t>23BQ1A61A6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          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Regd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No#2 </a:t>
            </a:r>
            <a:r>
              <a:rPr lang="en-IN" sz="1200" dirty="0"/>
              <a:t>23BQ1A6171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Regd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No#3 </a:t>
            </a:r>
            <a:r>
              <a:rPr lang="en-IN" sz="1200" dirty="0"/>
              <a:t>23BQ1A6156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          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Regd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No#4 </a:t>
            </a:r>
            <a:r>
              <a:rPr lang="en-IN" sz="1200" dirty="0"/>
              <a:t>23BQ1A6158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endParaRPr lang="en-IN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86" y="92353"/>
            <a:ext cx="993618" cy="69346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201991" y="82617"/>
            <a:ext cx="77534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IN" sz="1800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AI-Based Research Paper Novelty Assessment System Using Retrieval-Augmented Generation (RAG)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Footer Placeholder 11"/>
          <p:cNvSpPr>
            <a:spLocks noGrp="1"/>
          </p:cNvSpPr>
          <p:nvPr>
            <p:ph type="ftr" sz="quarter" idx="11"/>
          </p:nvPr>
        </p:nvSpPr>
        <p:spPr>
          <a:xfrm>
            <a:off x="3999271" y="6460922"/>
            <a:ext cx="4114800" cy="365125"/>
          </a:xfrm>
        </p:spPr>
        <p:txBody>
          <a:bodyPr/>
          <a:lstStyle/>
          <a:p>
            <a:r>
              <a:rPr lang="en-IN" dirty="0">
                <a:solidFill>
                  <a:schemeClr val="tx1"/>
                </a:solidFill>
              </a:rPr>
              <a:t>Dept. CSM @ VVIT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 flipH="1">
            <a:off x="135928" y="1326501"/>
            <a:ext cx="119201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 Proposed Method 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| Data &amp; Setup | </a:t>
            </a:r>
            <a:r>
              <a:rPr lang="en-IN" sz="14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Results | Strengths &amp; Limitations | Relevance to my research |</a:t>
            </a:r>
            <a:endParaRPr lang="en-IN" sz="1400" dirty="0">
              <a:solidFill>
                <a:schemeClr val="bg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082799" y="862390"/>
            <a:ext cx="1002070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/>
              <a:t>Ref 01 –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Evaluating and Enhancing Large Language Models for Novelty Assessment in Scholarly Publications</a:t>
            </a:r>
            <a:b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Ethan Lin et al., 2025 | Workshop on AI and Scientific Discovery (ACL) </a:t>
            </a:r>
            <a:endParaRPr lang="en-IN" sz="1400" dirty="0"/>
          </a:p>
        </p:txBody>
      </p:sp>
      <p:sp>
        <p:nvSpPr>
          <p:cNvPr id="18" name="TextBox 17"/>
          <p:cNvSpPr txBox="1"/>
          <p:nvPr/>
        </p:nvSpPr>
        <p:spPr>
          <a:xfrm>
            <a:off x="104186" y="1730575"/>
            <a:ext cx="11617476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study uses research papers from the arXiv dataset, which contains a large collection of scientific publications.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the SchNovel benchmark, the authors created 15,000 pairs of research papers from six fields: Computer Science, Mathematics, Physics, Quantitative Biology, Quantitative Finance, and Statistics.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paired papers have publication-year gaps of 2, 4, 6, 8, and 10 years, and the more recently published paper is considered more novel for evaluation.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each paper, the LLM is mainly provided with its title, abstract, and optional metadata, instead of the complete paper text, to reduce processing cost and improve efficiency.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RAG-Novelty, paper abstracts are converted into embeddings using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OpenAI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text-embedding-3-small, and relevant papers are retrieved using cosine similarity.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experiments evaluate different LLM-based approaches, with GPT-4o-mini used for the main comparison of RAG-Novelty with other baseline methods.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-1" y="6980"/>
            <a:ext cx="12192000" cy="837398"/>
          </a:xfrm>
          <a:prstGeom prst="rect">
            <a:avLst/>
          </a:prstGeom>
          <a:solidFill>
            <a:srgbClr val="E77E69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6451517"/>
            <a:ext cx="12192000" cy="393289"/>
          </a:xfrm>
          <a:prstGeom prst="rect">
            <a:avLst/>
          </a:prstGeom>
          <a:solidFill>
            <a:srgbClr val="E77E69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Date Placeholder 10"/>
          <p:cNvSpPr>
            <a:spLocks noGrp="1"/>
          </p:cNvSpPr>
          <p:nvPr>
            <p:ph type="dt" sz="half" idx="10"/>
          </p:nvPr>
        </p:nvSpPr>
        <p:spPr>
          <a:xfrm>
            <a:off x="0" y="6460922"/>
            <a:ext cx="997974" cy="365125"/>
          </a:xfrm>
        </p:spPr>
        <p:txBody>
          <a:bodyPr/>
          <a:lstStyle/>
          <a:p>
            <a:r>
              <a:rPr lang="en-IN" dirty="0">
                <a:solidFill>
                  <a:schemeClr val="tx1"/>
                </a:solidFill>
              </a:rPr>
              <a:t>23-09-2026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>
          <a:xfrm>
            <a:off x="11227443" y="6478792"/>
            <a:ext cx="876067" cy="379208"/>
          </a:xfrm>
        </p:spPr>
        <p:txBody>
          <a:bodyPr/>
          <a:lstStyle/>
          <a:p>
            <a:fld id="{0F06A4E2-163B-4ABA-8562-AD05AC3F17C5}" type="slidenum">
              <a:rPr lang="en-IN" sz="1800" smtClean="0">
                <a:solidFill>
                  <a:schemeClr val="tx1"/>
                </a:solidFill>
              </a:rPr>
            </a:fld>
            <a:endParaRPr lang="en-IN" sz="1800" dirty="0">
              <a:solidFill>
                <a:schemeClr val="tx1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 flipH="1">
            <a:off x="135928" y="877163"/>
            <a:ext cx="20638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8261130" y="31393"/>
            <a:ext cx="384237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Guide: 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Dr.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 . Srinivasa Rao</a:t>
            </a: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Batch ID: AIML-B06</a:t>
            </a: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Regd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No#1 </a:t>
            </a:r>
            <a:r>
              <a:rPr lang="en-IN" sz="1200" dirty="0"/>
              <a:t>23BQ1A61A6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          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Regd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No#2 </a:t>
            </a:r>
            <a:r>
              <a:rPr lang="en-IN" sz="1200" dirty="0"/>
              <a:t>23BQ1A6171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Regd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No#3 </a:t>
            </a:r>
            <a:r>
              <a:rPr lang="en-IN" sz="1200" dirty="0"/>
              <a:t>23BQ1A6156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          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Regd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No#4 </a:t>
            </a:r>
            <a:r>
              <a:rPr lang="en-IN" sz="1200" dirty="0"/>
              <a:t>23BQ1A6158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endParaRPr lang="en-IN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86" y="92353"/>
            <a:ext cx="993618" cy="69346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201991" y="82617"/>
            <a:ext cx="77534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00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AI-Based Research Paper Novelty Assessment System Using Retrieval-Augmented Generation (RAG)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Footer Placeholder 11"/>
          <p:cNvSpPr>
            <a:spLocks noGrp="1"/>
          </p:cNvSpPr>
          <p:nvPr>
            <p:ph type="ftr" sz="quarter" idx="11"/>
          </p:nvPr>
        </p:nvSpPr>
        <p:spPr>
          <a:xfrm>
            <a:off x="3999271" y="6460922"/>
            <a:ext cx="4114800" cy="365125"/>
          </a:xfrm>
        </p:spPr>
        <p:txBody>
          <a:bodyPr/>
          <a:lstStyle/>
          <a:p>
            <a:r>
              <a:rPr lang="en-IN" dirty="0">
                <a:solidFill>
                  <a:schemeClr val="tx1"/>
                </a:solidFill>
              </a:rPr>
              <a:t>Dept. CSM @ VVIT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 flipH="1">
            <a:off x="135928" y="1326501"/>
            <a:ext cx="119201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 Proposed Method | Data &amp; Setup 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| key Results | </a:t>
            </a:r>
            <a:r>
              <a:rPr lang="en-IN" sz="14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Strengths &amp; Limitations | Relevance to my research |</a:t>
            </a:r>
            <a:endParaRPr lang="en-IN" sz="1400" dirty="0">
              <a:solidFill>
                <a:schemeClr val="bg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082799" y="862390"/>
            <a:ext cx="1002070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/>
              <a:t>Ref 01 –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Evaluating and Enhancing Large Language Models for Novelty Assessment in Scholarly Publications</a:t>
            </a:r>
            <a:b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Ethan Lin et al., 2025 | Workshop on AI and Scientific Discovery (ACL) </a:t>
            </a:r>
            <a:endParaRPr lang="en-IN" sz="1400" dirty="0"/>
          </a:p>
        </p:txBody>
      </p:sp>
      <p:sp>
        <p:nvSpPr>
          <p:cNvPr id="18" name="TextBox 17"/>
          <p:cNvSpPr txBox="1"/>
          <p:nvPr/>
        </p:nvSpPr>
        <p:spPr>
          <a:xfrm>
            <a:off x="135928" y="2290940"/>
            <a:ext cx="6154513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RAG-Novelty achieved the best overall performance among the evaluated baseline methods.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method showed that retrieving relevant research context improves LLM-based novelty assessment.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Pairwise comparison of research papers performed better than evaluating papers independently.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varied across domains, with Computer Science showing stronger results, while Mathematics and Physics were more challenging.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Publication-year gap and choice of LLM were also found to influence novelty-assessment performance.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97532" y="2202599"/>
            <a:ext cx="4529721" cy="370059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-1" y="6980"/>
            <a:ext cx="12192000" cy="837398"/>
          </a:xfrm>
          <a:prstGeom prst="rect">
            <a:avLst/>
          </a:prstGeom>
          <a:solidFill>
            <a:srgbClr val="E77E69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6451517"/>
            <a:ext cx="12192000" cy="393289"/>
          </a:xfrm>
          <a:prstGeom prst="rect">
            <a:avLst/>
          </a:prstGeom>
          <a:solidFill>
            <a:srgbClr val="E77E69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Date Placeholder 10"/>
          <p:cNvSpPr>
            <a:spLocks noGrp="1"/>
          </p:cNvSpPr>
          <p:nvPr>
            <p:ph type="dt" sz="half" idx="10"/>
          </p:nvPr>
        </p:nvSpPr>
        <p:spPr>
          <a:xfrm>
            <a:off x="0" y="6460922"/>
            <a:ext cx="997974" cy="365125"/>
          </a:xfrm>
        </p:spPr>
        <p:txBody>
          <a:bodyPr/>
          <a:lstStyle/>
          <a:p>
            <a:r>
              <a:rPr lang="en-IN" dirty="0">
                <a:solidFill>
                  <a:schemeClr val="tx1"/>
                </a:solidFill>
              </a:rPr>
              <a:t>23-09-2026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>
          <a:xfrm>
            <a:off x="11227443" y="6478792"/>
            <a:ext cx="876067" cy="379208"/>
          </a:xfrm>
        </p:spPr>
        <p:txBody>
          <a:bodyPr/>
          <a:lstStyle/>
          <a:p>
            <a:fld id="{0F06A4E2-163B-4ABA-8562-AD05AC3F17C5}" type="slidenum">
              <a:rPr lang="en-IN" sz="1800" smtClean="0">
                <a:solidFill>
                  <a:schemeClr val="tx1"/>
                </a:solidFill>
              </a:rPr>
            </a:fld>
            <a:endParaRPr lang="en-IN" sz="1800" dirty="0">
              <a:solidFill>
                <a:schemeClr val="tx1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 flipH="1">
            <a:off x="135928" y="877163"/>
            <a:ext cx="20638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8300545" y="31393"/>
            <a:ext cx="38029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Guide: 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Dr.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 . Srinivasa Rao</a:t>
            </a: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Batch ID: AIML-B06</a:t>
            </a: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Regd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No#1 </a:t>
            </a:r>
            <a:r>
              <a:rPr lang="en-IN" sz="1200" dirty="0"/>
              <a:t>23BQ1A61A6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          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Regd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No#2 </a:t>
            </a:r>
            <a:r>
              <a:rPr lang="en-IN" sz="1200" dirty="0"/>
              <a:t>23BQ1A6171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Regd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No#3 </a:t>
            </a:r>
            <a:r>
              <a:rPr lang="en-IN" sz="1200" dirty="0"/>
              <a:t>23BQ1A6156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          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Regd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No#4 </a:t>
            </a:r>
            <a:r>
              <a:rPr lang="en-IN" sz="1200" dirty="0"/>
              <a:t>23BQ1A6158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endParaRPr lang="en-IN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86" y="92353"/>
            <a:ext cx="993618" cy="69346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201991" y="82617"/>
            <a:ext cx="77534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00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AI-Based Research Paper Novelty Assessment System Using Retrieval-Augmented Generation (RAG)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Footer Placeholder 11"/>
          <p:cNvSpPr>
            <a:spLocks noGrp="1"/>
          </p:cNvSpPr>
          <p:nvPr>
            <p:ph type="ftr" sz="quarter" idx="11"/>
          </p:nvPr>
        </p:nvSpPr>
        <p:spPr>
          <a:xfrm>
            <a:off x="3999271" y="6460922"/>
            <a:ext cx="4114800" cy="365125"/>
          </a:xfrm>
        </p:spPr>
        <p:txBody>
          <a:bodyPr/>
          <a:lstStyle/>
          <a:p>
            <a:r>
              <a:rPr lang="en-IN" dirty="0">
                <a:solidFill>
                  <a:schemeClr val="tx1"/>
                </a:solidFill>
              </a:rPr>
              <a:t>Dept. CSM @ VVIT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 flipH="1">
            <a:off x="135928" y="1323709"/>
            <a:ext cx="119201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 Proposed Method | Data &amp; Setup | key Results 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| Strengths &amp; Limitations | </a:t>
            </a:r>
            <a:r>
              <a:rPr lang="en-IN" sz="14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Relevance to my research |</a:t>
            </a:r>
            <a:endParaRPr lang="en-IN" sz="1400" dirty="0">
              <a:solidFill>
                <a:schemeClr val="bg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082799" y="862390"/>
            <a:ext cx="1002070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/>
              <a:t>Ref 01 –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Evaluating and Enhancing Large Language Models for Novelty Assessment in Scholarly Publications</a:t>
            </a:r>
            <a:b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Ethan Lin et al., 2025 | Workshop on AI and Scientific Discovery (ACL) </a:t>
            </a:r>
            <a:endParaRPr lang="en-IN" sz="1400" dirty="0"/>
          </a:p>
        </p:txBody>
      </p:sp>
      <p:sp>
        <p:nvSpPr>
          <p:cNvPr id="7" name="Rounded Rectangle 6"/>
          <p:cNvSpPr/>
          <p:nvPr/>
        </p:nvSpPr>
        <p:spPr>
          <a:xfrm>
            <a:off x="264160" y="2194559"/>
            <a:ext cx="5699760" cy="3693884"/>
          </a:xfrm>
          <a:prstGeom prst="roundRect">
            <a:avLst>
              <a:gd name="adj" fmla="val 3659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RAG-based approach: Uses relevant research papers as additional context, helping the LLM assess novelty beyond its internal knowledge.</a:t>
            </a:r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Large benchmark: Introduces SchNovel with      15,000 paper pairs covering six different research fields.</a:t>
            </a:r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Better performance: RAG-Novelty achieved the highest overall results compared with the baseline methods evaluated in the study.</a:t>
            </a:r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Realistic retrieval: Uses publication dates to ensure that only information available at the time of the paper is considered.</a:t>
            </a:r>
            <a:endParaRPr lang="en-IN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6129975" y="2150756"/>
            <a:ext cx="5699760" cy="3693884"/>
          </a:xfrm>
          <a:prstGeom prst="roundRect">
            <a:avLst>
              <a:gd name="adj" fmla="val 3659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Limited paper content: Uses mainly the title, abstract, and metadata, so some important details from the full paper may be missed.</a:t>
            </a:r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Dataset limitation: The study relies mainly on arXiv papers, which may limit its coverage of other publication sources.</a:t>
            </a:r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Bias and domain issues: Performance varies across fields, and position and affiliation biases can affect the LLM's novelty assessment.</a:t>
            </a:r>
            <a:endParaRPr lang="en-IN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259202" y="2148841"/>
            <a:ext cx="5441307" cy="45719"/>
          </a:xfrm>
          <a:prstGeom prst="rect">
            <a:avLst/>
          </a:prstGeom>
          <a:solidFill>
            <a:srgbClr val="EC7E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Rectangle 18"/>
          <p:cNvSpPr/>
          <p:nvPr/>
        </p:nvSpPr>
        <p:spPr>
          <a:xfrm>
            <a:off x="393386" y="2148841"/>
            <a:ext cx="5441307" cy="45719"/>
          </a:xfrm>
          <a:prstGeom prst="rect">
            <a:avLst/>
          </a:prstGeom>
          <a:solidFill>
            <a:srgbClr val="EC7E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Box 8"/>
          <p:cNvSpPr txBox="1"/>
          <p:nvPr/>
        </p:nvSpPr>
        <p:spPr>
          <a:xfrm>
            <a:off x="393386" y="1799012"/>
            <a:ext cx="10758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Strengths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259202" y="1779509"/>
            <a:ext cx="12490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-1" y="6980"/>
            <a:ext cx="12192000" cy="837398"/>
          </a:xfrm>
          <a:prstGeom prst="rect">
            <a:avLst/>
          </a:prstGeom>
          <a:solidFill>
            <a:srgbClr val="E77E69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6451517"/>
            <a:ext cx="12192000" cy="393289"/>
          </a:xfrm>
          <a:prstGeom prst="rect">
            <a:avLst/>
          </a:prstGeom>
          <a:solidFill>
            <a:srgbClr val="E77E69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Date Placeholder 10"/>
          <p:cNvSpPr>
            <a:spLocks noGrp="1"/>
          </p:cNvSpPr>
          <p:nvPr>
            <p:ph type="dt" sz="half" idx="10"/>
          </p:nvPr>
        </p:nvSpPr>
        <p:spPr>
          <a:xfrm>
            <a:off x="0" y="6460922"/>
            <a:ext cx="997974" cy="365125"/>
          </a:xfrm>
        </p:spPr>
        <p:txBody>
          <a:bodyPr/>
          <a:lstStyle/>
          <a:p>
            <a:r>
              <a:rPr lang="en-IN" dirty="0">
                <a:solidFill>
                  <a:schemeClr val="tx1"/>
                </a:solidFill>
              </a:rPr>
              <a:t>23-09-2026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>
          <a:xfrm>
            <a:off x="11227443" y="6478792"/>
            <a:ext cx="876067" cy="379208"/>
          </a:xfrm>
        </p:spPr>
        <p:txBody>
          <a:bodyPr/>
          <a:lstStyle/>
          <a:p>
            <a:fld id="{0F06A4E2-163B-4ABA-8562-AD05AC3F17C5}" type="slidenum">
              <a:rPr lang="en-IN" sz="1800" smtClean="0">
                <a:solidFill>
                  <a:schemeClr val="tx1"/>
                </a:solidFill>
              </a:rPr>
            </a:fld>
            <a:endParaRPr lang="en-IN" sz="1800" dirty="0">
              <a:solidFill>
                <a:schemeClr val="tx1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 flipH="1">
            <a:off x="135928" y="877163"/>
            <a:ext cx="20638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8284778" y="31393"/>
            <a:ext cx="381873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Guide: 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Dr.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 . Srinivasa Rao</a:t>
            </a: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Batch ID: AIML-B06</a:t>
            </a: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Regd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No#1 </a:t>
            </a:r>
            <a:r>
              <a:rPr lang="en-IN" sz="1200" dirty="0"/>
              <a:t>23BQ1A61A6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          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Regd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No#2 </a:t>
            </a:r>
            <a:r>
              <a:rPr lang="en-IN" sz="1200" dirty="0"/>
              <a:t>23BQ1A6171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Regd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No#3 </a:t>
            </a:r>
            <a:r>
              <a:rPr lang="en-IN" sz="1200" dirty="0"/>
              <a:t>23BQ1A6156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          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Regd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No#4 </a:t>
            </a:r>
            <a:r>
              <a:rPr lang="en-IN" sz="1200" dirty="0"/>
              <a:t>23BQ1A6158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endParaRPr lang="en-IN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86" y="92353"/>
            <a:ext cx="993618" cy="69346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531467" y="82617"/>
            <a:ext cx="74240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Title of the project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Title may occupy two lines here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Footer Placeholder 11"/>
          <p:cNvSpPr>
            <a:spLocks noGrp="1"/>
          </p:cNvSpPr>
          <p:nvPr>
            <p:ph type="ftr" sz="quarter" idx="11"/>
          </p:nvPr>
        </p:nvSpPr>
        <p:spPr>
          <a:xfrm>
            <a:off x="3999271" y="6460922"/>
            <a:ext cx="4114800" cy="365125"/>
          </a:xfrm>
        </p:spPr>
        <p:txBody>
          <a:bodyPr/>
          <a:lstStyle/>
          <a:p>
            <a:r>
              <a:rPr lang="en-IN" dirty="0">
                <a:solidFill>
                  <a:schemeClr val="tx1"/>
                </a:solidFill>
              </a:rPr>
              <a:t>Dept. CSM @ VVIT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 flipH="1">
            <a:off x="135928" y="1326501"/>
            <a:ext cx="119201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 Proposed Method | Data &amp; Setup | key Results | Strengths &amp; Limitations 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| Relevance to my research |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082799" y="862390"/>
            <a:ext cx="1002070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/>
              <a:t>Ref 01 –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Evaluating and Enhancing Large Language Models for Novelty Assessment in Scholarly Publications</a:t>
            </a:r>
            <a:b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Ethan Lin et al., 2025 | Workshop on AI and Scientific Discovery (ACL) </a:t>
            </a:r>
            <a:endParaRPr lang="en-IN" sz="1400" dirty="0"/>
          </a:p>
        </p:txBody>
      </p:sp>
      <p:sp>
        <p:nvSpPr>
          <p:cNvPr id="18" name="TextBox 17"/>
          <p:cNvSpPr txBox="1"/>
          <p:nvPr/>
        </p:nvSpPr>
        <p:spPr>
          <a:xfrm>
            <a:off x="228600" y="1906636"/>
            <a:ext cx="11874908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RAG approach: The RAG-Novelty method provides the basic idea of using retrieved research papers as context for novelty assessment.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Similar-paper retrieval: Its retrieval mechanism can be used in our system to find relevant existing papers for comparison with a new research paper.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Context-based evaluation: The reference shows that providing relevant literature to an LLM can support better novelty assessment than relying only on the model's internal knowledge.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Basis for our system: Our research extends this idea toward an AI-based research paper novelty assessment system using RAG, with retrieval and LLM-based analysis as the main components.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-1" y="6980"/>
            <a:ext cx="12192000" cy="837398"/>
          </a:xfrm>
          <a:prstGeom prst="rect">
            <a:avLst/>
          </a:prstGeom>
          <a:solidFill>
            <a:srgbClr val="E77E69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6451517"/>
            <a:ext cx="12192000" cy="393289"/>
          </a:xfrm>
          <a:prstGeom prst="rect">
            <a:avLst/>
          </a:prstGeom>
          <a:solidFill>
            <a:srgbClr val="E77E69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Date Placeholder 10"/>
          <p:cNvSpPr>
            <a:spLocks noGrp="1"/>
          </p:cNvSpPr>
          <p:nvPr>
            <p:ph type="dt" sz="half" idx="10"/>
          </p:nvPr>
        </p:nvSpPr>
        <p:spPr>
          <a:xfrm>
            <a:off x="0" y="6460922"/>
            <a:ext cx="997974" cy="365125"/>
          </a:xfrm>
        </p:spPr>
        <p:txBody>
          <a:bodyPr/>
          <a:lstStyle/>
          <a:p>
            <a:r>
              <a:rPr lang="en-IN" dirty="0">
                <a:solidFill>
                  <a:schemeClr val="tx1"/>
                </a:solidFill>
              </a:rPr>
              <a:t>23-09-2026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>
          <a:xfrm>
            <a:off x="11227443" y="6478792"/>
            <a:ext cx="876067" cy="379208"/>
          </a:xfrm>
        </p:spPr>
        <p:txBody>
          <a:bodyPr/>
          <a:lstStyle/>
          <a:p>
            <a:fld id="{0F06A4E2-163B-4ABA-8562-AD05AC3F17C5}" type="slidenum">
              <a:rPr lang="en-IN" sz="1800" smtClean="0">
                <a:solidFill>
                  <a:schemeClr val="tx1"/>
                </a:solidFill>
              </a:rPr>
            </a:fld>
            <a:endParaRPr lang="en-IN" sz="1800" dirty="0">
              <a:solidFill>
                <a:schemeClr val="tx1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 flipH="1">
            <a:off x="135928" y="877163"/>
            <a:ext cx="20638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8253248" y="31393"/>
            <a:ext cx="385026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Guide: 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Dr.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 . Srinivasa Rao</a:t>
            </a: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Batch ID: AIML-B06</a:t>
            </a: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Regd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No#1 </a:t>
            </a:r>
            <a:r>
              <a:rPr lang="en-IN" sz="1200" dirty="0"/>
              <a:t>23BQ1A61A6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          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Regd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No#2 </a:t>
            </a:r>
            <a:r>
              <a:rPr lang="en-IN" sz="1200" dirty="0"/>
              <a:t>23BQ1A6171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Regd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No#3 </a:t>
            </a:r>
            <a:r>
              <a:rPr lang="en-IN" sz="1200" dirty="0"/>
              <a:t>23BQ1A6156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          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Regd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No#4 </a:t>
            </a:r>
            <a:r>
              <a:rPr lang="en-IN" sz="1200" dirty="0"/>
              <a:t>23BQ1A6158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endParaRPr lang="en-IN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86" y="92353"/>
            <a:ext cx="993618" cy="69346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097804" y="115918"/>
            <a:ext cx="74240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IN" sz="1800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AI-Based Research Paper Novelty Assessment System Using Retrieval-Augmented Generation (RAG)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Footer Placeholder 11"/>
          <p:cNvSpPr>
            <a:spLocks noGrp="1"/>
          </p:cNvSpPr>
          <p:nvPr>
            <p:ph type="ftr" sz="quarter" idx="11"/>
          </p:nvPr>
        </p:nvSpPr>
        <p:spPr>
          <a:xfrm>
            <a:off x="3999271" y="6460922"/>
            <a:ext cx="4114800" cy="365125"/>
          </a:xfrm>
        </p:spPr>
        <p:txBody>
          <a:bodyPr/>
          <a:lstStyle/>
          <a:p>
            <a:r>
              <a:rPr lang="en-IN" dirty="0">
                <a:solidFill>
                  <a:schemeClr val="tx1"/>
                </a:solidFill>
              </a:rPr>
              <a:t>Dept. CSM @ VVIT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 flipH="1">
            <a:off x="135928" y="1326501"/>
            <a:ext cx="119201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| Proposed Method | </a:t>
            </a:r>
            <a:r>
              <a:rPr lang="en-IN" sz="14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&amp; Setup | key Results | Strengths &amp; Limitations | Relevance to my research |</a:t>
            </a:r>
            <a:endParaRPr lang="en-IN" sz="1400" dirty="0">
              <a:solidFill>
                <a:schemeClr val="bg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082801" y="930591"/>
            <a:ext cx="1002070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/>
              <a:t>Ref 02 –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Harnessing Large Language Models for Scientific Novelty Detection</a:t>
            </a:r>
            <a:b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Yan Liu et al., 2025 | arXiv 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35890" y="2030730"/>
            <a:ext cx="6548755" cy="382143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authors propose an LLM-based framework for Scientific Novelty Detection (ND) that focuses on identifying similarity at the idea level, rather than only comparing text.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First, they construct ND-specific benchmark datasets by selecting seed papers, collecting their references, and forming a closed research-paper corpus.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improve retrieval, the authors generate rephrased, partial, and incremental ideas from existing ideas</a:t>
            </a:r>
            <a:r>
              <a:rPr lang="en-I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trained retriever identifies the Top-K conceptually similar research ideas</a:t>
            </a:r>
            <a:r>
              <a:rPr lang="en-I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Finally, the LLM assigns novelty scores by comparing the target idea with the retrieved ideas, and a supervised decision tree uses these scores to make the final Novel/Non-Novel decision.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8229" y="1938201"/>
            <a:ext cx="5060119" cy="420939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-1" y="6980"/>
            <a:ext cx="12192000" cy="837398"/>
          </a:xfrm>
          <a:prstGeom prst="rect">
            <a:avLst/>
          </a:prstGeom>
          <a:solidFill>
            <a:srgbClr val="E77E69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6451517"/>
            <a:ext cx="12192000" cy="393289"/>
          </a:xfrm>
          <a:prstGeom prst="rect">
            <a:avLst/>
          </a:prstGeom>
          <a:solidFill>
            <a:srgbClr val="E77E69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Date Placeholder 10"/>
          <p:cNvSpPr>
            <a:spLocks noGrp="1"/>
          </p:cNvSpPr>
          <p:nvPr>
            <p:ph type="dt" sz="half" idx="10"/>
          </p:nvPr>
        </p:nvSpPr>
        <p:spPr>
          <a:xfrm>
            <a:off x="0" y="6460922"/>
            <a:ext cx="997974" cy="365125"/>
          </a:xfrm>
        </p:spPr>
        <p:txBody>
          <a:bodyPr/>
          <a:lstStyle/>
          <a:p>
            <a:r>
              <a:rPr lang="en-IN" dirty="0">
                <a:solidFill>
                  <a:schemeClr val="tx1"/>
                </a:solidFill>
              </a:rPr>
              <a:t>23-09-2026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>
          <a:xfrm>
            <a:off x="11227443" y="6478792"/>
            <a:ext cx="876067" cy="379208"/>
          </a:xfrm>
        </p:spPr>
        <p:txBody>
          <a:bodyPr/>
          <a:lstStyle/>
          <a:p>
            <a:fld id="{0F06A4E2-163B-4ABA-8562-AD05AC3F17C5}" type="slidenum">
              <a:rPr lang="en-IN" sz="1800" smtClean="0">
                <a:solidFill>
                  <a:schemeClr val="tx1"/>
                </a:solidFill>
              </a:rPr>
            </a:fld>
            <a:endParaRPr lang="en-IN" sz="1800" dirty="0">
              <a:solidFill>
                <a:schemeClr val="tx1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 flipH="1">
            <a:off x="135928" y="877163"/>
            <a:ext cx="20638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8261130" y="31393"/>
            <a:ext cx="384237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Guide: 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Dr.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 . Srinivasa Rao</a:t>
            </a: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Batch ID: AIML-B06</a:t>
            </a: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Regd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No#1 </a:t>
            </a:r>
            <a:r>
              <a:rPr lang="en-IN" sz="1200" dirty="0"/>
              <a:t>23BQ1A61A6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          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Regd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No#2 </a:t>
            </a:r>
            <a:r>
              <a:rPr lang="en-IN" sz="1200" dirty="0"/>
              <a:t>23BQ1A6171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Regd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No#3 </a:t>
            </a:r>
            <a:r>
              <a:rPr lang="en-IN" sz="1200" dirty="0"/>
              <a:t>23BQ1A6156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          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Regd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No#4 </a:t>
            </a:r>
            <a:r>
              <a:rPr lang="en-IN" sz="1200" dirty="0"/>
              <a:t>23BQ1A6158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endParaRPr lang="en-IN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86" y="92353"/>
            <a:ext cx="993618" cy="69346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097804" y="82617"/>
            <a:ext cx="785767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00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AI-Based Research Paper Novelty Assessment System Using Retrieval-</a:t>
            </a:r>
            <a:endParaRPr lang="en-IN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  <a:p>
            <a:r>
              <a:rPr lang="en-IN" sz="1800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Augmented Generation (RAG)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Footer Placeholder 11"/>
          <p:cNvSpPr>
            <a:spLocks noGrp="1"/>
          </p:cNvSpPr>
          <p:nvPr>
            <p:ph type="ftr" sz="quarter" idx="11"/>
          </p:nvPr>
        </p:nvSpPr>
        <p:spPr>
          <a:xfrm>
            <a:off x="3999271" y="6460922"/>
            <a:ext cx="4114800" cy="365125"/>
          </a:xfrm>
        </p:spPr>
        <p:txBody>
          <a:bodyPr/>
          <a:lstStyle/>
          <a:p>
            <a:r>
              <a:rPr lang="en-IN" dirty="0">
                <a:solidFill>
                  <a:schemeClr val="tx1"/>
                </a:solidFill>
              </a:rPr>
              <a:t>Dept. CSM @ VVIT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 flipH="1">
            <a:off x="135928" y="1326501"/>
            <a:ext cx="119201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 Proposed Method 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| Data &amp; Setup | </a:t>
            </a:r>
            <a:r>
              <a:rPr lang="en-IN" sz="14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Results | Strengths &amp; Limitations | Relevance to my research |</a:t>
            </a:r>
            <a:endParaRPr lang="en-IN" sz="1400" dirty="0">
              <a:solidFill>
                <a:schemeClr val="bg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082799" y="842070"/>
            <a:ext cx="1002070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/>
              <a:t>Ref 02 – 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Harnessing Large Language Models for Scientific Novelty Detection</a:t>
            </a:r>
            <a:b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Yan Liu et al., 2025 | arXiv </a:t>
            </a:r>
            <a:endParaRPr lang="en-IN" sz="1400" dirty="0"/>
          </a:p>
        </p:txBody>
      </p:sp>
      <p:sp>
        <p:nvSpPr>
          <p:cNvPr id="18" name="TextBox 17"/>
          <p:cNvSpPr txBox="1"/>
          <p:nvPr/>
        </p:nvSpPr>
        <p:spPr>
          <a:xfrm>
            <a:off x="135928" y="1849721"/>
            <a:ext cx="11920141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study uses two newly created datasets from the Marketing and Natural Language Processing (NLP) research domains.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Marketing dataset contains seed papers collected from the Journal of Marketing and Journal of Marketing Research, covering publications from 2004 to 2024.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NLP dataset contains 3,533 papers collected from ACL conferences over the past five years.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 of the seed papers were collected using the Semantic Scholar API, forming a closed research corpus for novelty detection.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LLMs were used to generate rephrased, partial, and incremental ideas as non-novel examples for training the idea retriever.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experiments use different retriever backbones such as BGE, GTE, E5, SimCSE, SBERT, and NLI, with BGE using LLM-based knowledge distillation selected for the RAG-based novelty detection experiments.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-1" y="6980"/>
            <a:ext cx="12192000" cy="837398"/>
          </a:xfrm>
          <a:prstGeom prst="rect">
            <a:avLst/>
          </a:prstGeom>
          <a:solidFill>
            <a:srgbClr val="E77E69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6451517"/>
            <a:ext cx="12192000" cy="393289"/>
          </a:xfrm>
          <a:prstGeom prst="rect">
            <a:avLst/>
          </a:prstGeom>
          <a:solidFill>
            <a:srgbClr val="E77E69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Date Placeholder 10"/>
          <p:cNvSpPr>
            <a:spLocks noGrp="1"/>
          </p:cNvSpPr>
          <p:nvPr>
            <p:ph type="dt" sz="half" idx="10"/>
          </p:nvPr>
        </p:nvSpPr>
        <p:spPr>
          <a:xfrm>
            <a:off x="0" y="6460922"/>
            <a:ext cx="997974" cy="365125"/>
          </a:xfrm>
        </p:spPr>
        <p:txBody>
          <a:bodyPr/>
          <a:lstStyle/>
          <a:p>
            <a:r>
              <a:rPr lang="en-IN" dirty="0">
                <a:solidFill>
                  <a:schemeClr val="tx1"/>
                </a:solidFill>
              </a:rPr>
              <a:t>23-09-2026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>
          <a:xfrm>
            <a:off x="11227443" y="6478792"/>
            <a:ext cx="876067" cy="379208"/>
          </a:xfrm>
        </p:spPr>
        <p:txBody>
          <a:bodyPr/>
          <a:lstStyle/>
          <a:p>
            <a:fld id="{0F06A4E2-163B-4ABA-8562-AD05AC3F17C5}" type="slidenum">
              <a:rPr lang="en-IN" sz="1800" smtClean="0">
                <a:solidFill>
                  <a:schemeClr val="tx1"/>
                </a:solidFill>
              </a:rPr>
            </a:fld>
            <a:endParaRPr lang="en-IN" sz="1800" dirty="0">
              <a:solidFill>
                <a:schemeClr val="tx1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 flipH="1">
            <a:off x="135928" y="877163"/>
            <a:ext cx="20638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8229600" y="31393"/>
            <a:ext cx="387391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Guide: 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Dr.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 . Srinivasa Rao</a:t>
            </a: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Batch ID: AIML-B06</a:t>
            </a: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Regd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No#1 </a:t>
            </a:r>
            <a:r>
              <a:rPr lang="en-IN" sz="1200" dirty="0"/>
              <a:t>23BQ1A61A6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          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Regd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No#2 </a:t>
            </a:r>
            <a:r>
              <a:rPr lang="en-IN" sz="1200" dirty="0"/>
              <a:t>23BQ1A6171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Regd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No#3 </a:t>
            </a:r>
            <a:r>
              <a:rPr lang="en-IN" sz="1200" dirty="0"/>
              <a:t>23BQ1A6156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          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Regd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No#4 </a:t>
            </a:r>
            <a:r>
              <a:rPr lang="en-IN" sz="1200" dirty="0"/>
              <a:t>23BQ1A6158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endParaRPr lang="en-IN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86" y="92353"/>
            <a:ext cx="993618" cy="69346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097804" y="92353"/>
            <a:ext cx="785767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00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AI-Based Research Paper Novelty Assessment System Using Retrieval-Augmented Generation (RAG)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Footer Placeholder 11"/>
          <p:cNvSpPr>
            <a:spLocks noGrp="1"/>
          </p:cNvSpPr>
          <p:nvPr>
            <p:ph type="ftr" sz="quarter" idx="11"/>
          </p:nvPr>
        </p:nvSpPr>
        <p:spPr>
          <a:xfrm>
            <a:off x="3999271" y="6460922"/>
            <a:ext cx="4114800" cy="365125"/>
          </a:xfrm>
        </p:spPr>
        <p:txBody>
          <a:bodyPr/>
          <a:lstStyle/>
          <a:p>
            <a:r>
              <a:rPr lang="en-IN" dirty="0">
                <a:solidFill>
                  <a:schemeClr val="tx1"/>
                </a:solidFill>
              </a:rPr>
              <a:t>Dept. CSM @ VVIT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 flipH="1">
            <a:off x="135928" y="1326501"/>
            <a:ext cx="119201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 Proposed Method | Data &amp; Setup 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| key Results | </a:t>
            </a:r>
            <a:r>
              <a:rPr lang="en-IN" sz="14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Strengths &amp; Limitations | Relevance to my research |</a:t>
            </a:r>
            <a:endParaRPr lang="en-IN" sz="1400" dirty="0">
              <a:solidFill>
                <a:schemeClr val="bg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082799" y="862390"/>
            <a:ext cx="1002070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/>
              <a:t>Ref 02 – 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Harnessing Large Language Models for Scientific Novelty Detection</a:t>
            </a:r>
            <a:b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Yan Liu et al., 2025 | arXiv </a:t>
            </a:r>
            <a:endParaRPr lang="en-IN" sz="1400" dirty="0"/>
          </a:p>
        </p:txBody>
      </p:sp>
      <p:sp>
        <p:nvSpPr>
          <p:cNvPr id="18" name="TextBox 17"/>
          <p:cNvSpPr txBox="1"/>
          <p:nvPr/>
        </p:nvSpPr>
        <p:spPr>
          <a:xfrm>
            <a:off x="228600" y="2002155"/>
            <a:ext cx="6613525" cy="386270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LLM-based KD retriever consistently performed better than the baseline retrievers in both Marketing and NLP domains.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Compared with the best baseline, the method achieved an average improvement of 5.40% in Marketing and 15.19% in NLP for the idea retrieval task.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the novelty detection task, RAG-KD outperformed all baseline methods in both Marketing and NLP datasets.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RAG-KD achieved 74.53% accuracy in Marketing and 74.74% accuracy in NLP, showing improvement over the RAG-Vanilla approach.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experiments showed that using an idea-level retriever is important for novelty detection, and a moderate retrieval size such as Top-5 or Top-10 provided stable performance.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7545" y="2205532"/>
            <a:ext cx="4698124" cy="356646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-1" y="6980"/>
            <a:ext cx="12192000" cy="837398"/>
          </a:xfrm>
          <a:prstGeom prst="rect">
            <a:avLst/>
          </a:prstGeom>
          <a:solidFill>
            <a:srgbClr val="E77E69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6451517"/>
            <a:ext cx="12192000" cy="393289"/>
          </a:xfrm>
          <a:prstGeom prst="rect">
            <a:avLst/>
          </a:prstGeom>
          <a:solidFill>
            <a:srgbClr val="E77E69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Date Placeholder 10"/>
          <p:cNvSpPr>
            <a:spLocks noGrp="1"/>
          </p:cNvSpPr>
          <p:nvPr>
            <p:ph type="dt" sz="half" idx="10"/>
          </p:nvPr>
        </p:nvSpPr>
        <p:spPr>
          <a:xfrm>
            <a:off x="0" y="6460922"/>
            <a:ext cx="997974" cy="365125"/>
          </a:xfrm>
        </p:spPr>
        <p:txBody>
          <a:bodyPr/>
          <a:lstStyle/>
          <a:p>
            <a:r>
              <a:rPr lang="en-IN" dirty="0">
                <a:solidFill>
                  <a:schemeClr val="tx1"/>
                </a:solidFill>
              </a:rPr>
              <a:t>23-09-2026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>
          <a:xfrm>
            <a:off x="11227443" y="6478792"/>
            <a:ext cx="876067" cy="379208"/>
          </a:xfrm>
        </p:spPr>
        <p:txBody>
          <a:bodyPr/>
          <a:lstStyle/>
          <a:p>
            <a:fld id="{0F06A4E2-163B-4ABA-8562-AD05AC3F17C5}" type="slidenum">
              <a:rPr lang="en-IN" sz="1800" smtClean="0">
                <a:solidFill>
                  <a:schemeClr val="tx1"/>
                </a:solidFill>
              </a:rPr>
            </a:fld>
            <a:endParaRPr lang="en-IN" sz="1800" dirty="0">
              <a:solidFill>
                <a:schemeClr val="tx1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 flipH="1">
            <a:off x="135928" y="877163"/>
            <a:ext cx="20638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8284779" y="31393"/>
            <a:ext cx="381873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Guide: 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Dr.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 . Srinivasa Rao</a:t>
            </a: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Batch ID: AIML-B06</a:t>
            </a: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Regd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No#1 </a:t>
            </a:r>
            <a:r>
              <a:rPr lang="en-IN" sz="1200" dirty="0"/>
              <a:t>23BQ1A61A6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          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Regd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No#2 </a:t>
            </a:r>
            <a:r>
              <a:rPr lang="en-IN" sz="1200" dirty="0"/>
              <a:t>23BQ1A6171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Regd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No#3 </a:t>
            </a:r>
            <a:r>
              <a:rPr lang="en-IN" sz="1200" dirty="0"/>
              <a:t>23BQ1A6156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          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Regd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No#4 </a:t>
            </a:r>
            <a:r>
              <a:rPr lang="en-IN" sz="1200" dirty="0"/>
              <a:t>23BQ1A6158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endParaRPr lang="en-IN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86" y="92353"/>
            <a:ext cx="993618" cy="69346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009314" y="115943"/>
            <a:ext cx="71869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IN" sz="1800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AI-Based Research Paper Novelty Assessment System Using Retrieval-Augmented Generation (RAG)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Footer Placeholder 11"/>
          <p:cNvSpPr>
            <a:spLocks noGrp="1"/>
          </p:cNvSpPr>
          <p:nvPr>
            <p:ph type="ftr" sz="quarter" idx="11"/>
          </p:nvPr>
        </p:nvSpPr>
        <p:spPr>
          <a:xfrm>
            <a:off x="3999271" y="6460922"/>
            <a:ext cx="4114800" cy="365125"/>
          </a:xfrm>
        </p:spPr>
        <p:txBody>
          <a:bodyPr/>
          <a:lstStyle/>
          <a:p>
            <a:r>
              <a:rPr lang="en-IN" dirty="0">
                <a:solidFill>
                  <a:schemeClr val="tx1"/>
                </a:solidFill>
              </a:rPr>
              <a:t>Dept. CSM @ VVIT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 flipH="1">
            <a:off x="135928" y="1326501"/>
            <a:ext cx="119201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 Proposed Method | Data &amp; Setup | key Results 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| Strengths &amp; Limitations | </a:t>
            </a:r>
            <a:r>
              <a:rPr lang="en-IN" sz="14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Relevance to my research |</a:t>
            </a:r>
            <a:endParaRPr lang="en-IN" sz="1400" dirty="0">
              <a:solidFill>
                <a:schemeClr val="bg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082799" y="862390"/>
            <a:ext cx="1002070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/>
              <a:t>Ref 02 – 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Harnessing Large Language Models for Scientific Novelty Detection</a:t>
            </a:r>
            <a:b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Yan Liu et al., 2025 | arXiv </a:t>
            </a:r>
            <a:endParaRPr lang="en-IN" sz="1400" dirty="0"/>
          </a:p>
        </p:txBody>
      </p:sp>
      <p:sp>
        <p:nvSpPr>
          <p:cNvPr id="7" name="Rounded Rectangle 6"/>
          <p:cNvSpPr/>
          <p:nvPr/>
        </p:nvSpPr>
        <p:spPr>
          <a:xfrm>
            <a:off x="264160" y="2194560"/>
            <a:ext cx="5699760" cy="3749040"/>
          </a:xfrm>
          <a:prstGeom prst="roundRect">
            <a:avLst>
              <a:gd name="adj" fmla="val 3659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Idea-level retrieval: The method focuses on conceptual similarity instead of relying only on textual similarity.</a:t>
            </a:r>
            <a:endParaRPr lang="en-IN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LLM-based knowledge distillation: Uses LLM-generated ideas to train a lightweight retriever for more effective idea retrieval.</a:t>
            </a:r>
            <a:endParaRPr lang="en-IN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Strong performance: RAG-KD consistently outperforms baseline methods in both idea retrieval and novelty detection tasks.</a:t>
            </a:r>
            <a:endParaRPr lang="en-IN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6146800" y="2194560"/>
            <a:ext cx="5699760" cy="3749040"/>
          </a:xfrm>
          <a:prstGeom prst="roundRect">
            <a:avLst>
              <a:gd name="adj" fmla="val 3659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LLM-generated data: Generated ideas and novelty scores may not always be accurate or consistent.</a:t>
            </a:r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Binary classification: The framework currently classifies ideas only as Novel or Non-Novel, although novelty can be continuous and subjective.</a:t>
            </a:r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Dependence on prompts: Ambiguous or subtle prompts can introduce noise into the generated data and affect retriever training and novelty detection.</a:t>
            </a:r>
            <a:endParaRPr lang="en-IN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259202" y="2148841"/>
            <a:ext cx="5441307" cy="45719"/>
          </a:xfrm>
          <a:prstGeom prst="rect">
            <a:avLst/>
          </a:prstGeom>
          <a:solidFill>
            <a:srgbClr val="EC7E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Rectangle 18"/>
          <p:cNvSpPr/>
          <p:nvPr/>
        </p:nvSpPr>
        <p:spPr>
          <a:xfrm>
            <a:off x="393386" y="2148841"/>
            <a:ext cx="5441307" cy="45719"/>
          </a:xfrm>
          <a:prstGeom prst="rect">
            <a:avLst/>
          </a:prstGeom>
          <a:solidFill>
            <a:srgbClr val="EC7E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Box 8"/>
          <p:cNvSpPr txBox="1"/>
          <p:nvPr/>
        </p:nvSpPr>
        <p:spPr>
          <a:xfrm>
            <a:off x="393386" y="1799012"/>
            <a:ext cx="10758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Strengths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259202" y="1779509"/>
            <a:ext cx="12490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-1" y="6980"/>
            <a:ext cx="12192000" cy="837398"/>
          </a:xfrm>
          <a:prstGeom prst="rect">
            <a:avLst/>
          </a:prstGeom>
          <a:solidFill>
            <a:srgbClr val="E77E69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6451517"/>
            <a:ext cx="12192000" cy="393289"/>
          </a:xfrm>
          <a:prstGeom prst="rect">
            <a:avLst/>
          </a:prstGeom>
          <a:solidFill>
            <a:srgbClr val="E77E69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Date Placeholder 10"/>
          <p:cNvSpPr>
            <a:spLocks noGrp="1"/>
          </p:cNvSpPr>
          <p:nvPr>
            <p:ph type="dt" sz="half" idx="10"/>
          </p:nvPr>
        </p:nvSpPr>
        <p:spPr>
          <a:xfrm>
            <a:off x="0" y="6460922"/>
            <a:ext cx="997974" cy="365125"/>
          </a:xfrm>
        </p:spPr>
        <p:txBody>
          <a:bodyPr/>
          <a:lstStyle/>
          <a:p>
            <a:r>
              <a:rPr lang="en-IN" dirty="0">
                <a:solidFill>
                  <a:schemeClr val="tx1"/>
                </a:solidFill>
              </a:rPr>
              <a:t>23-09-2026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>
          <a:xfrm>
            <a:off x="11227443" y="6478792"/>
            <a:ext cx="876067" cy="379208"/>
          </a:xfrm>
        </p:spPr>
        <p:txBody>
          <a:bodyPr/>
          <a:lstStyle/>
          <a:p>
            <a:fld id="{0F06A4E2-163B-4ABA-8562-AD05AC3F17C5}" type="slidenum">
              <a:rPr lang="en-IN" sz="1800" smtClean="0">
                <a:solidFill>
                  <a:schemeClr val="tx1"/>
                </a:solidFill>
              </a:rPr>
            </a:fld>
            <a:endParaRPr lang="en-IN" sz="1800" dirty="0">
              <a:solidFill>
                <a:schemeClr val="tx1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 flipH="1">
            <a:off x="135928" y="877163"/>
            <a:ext cx="20638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8300545" y="31393"/>
            <a:ext cx="38029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Guide: 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Dr.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 . Srinivasa Rao</a:t>
            </a: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Batch ID: AIML-B06</a:t>
            </a: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Regd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No#1 </a:t>
            </a:r>
            <a:r>
              <a:rPr lang="en-IN" sz="1200" dirty="0"/>
              <a:t>23BQ1A61A6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          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Regd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No#2 </a:t>
            </a:r>
            <a:r>
              <a:rPr lang="en-IN" sz="1200" dirty="0"/>
              <a:t>23BQ1A6171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Regd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No#3 </a:t>
            </a:r>
            <a:r>
              <a:rPr lang="en-IN" sz="1200" dirty="0"/>
              <a:t>23BQ1A6156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          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Regd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No#4 </a:t>
            </a:r>
            <a:r>
              <a:rPr lang="en-IN" sz="1200" dirty="0"/>
              <a:t>23BQ1A6158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endParaRPr lang="en-IN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86" y="92353"/>
            <a:ext cx="993618" cy="69346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097804" y="82617"/>
            <a:ext cx="785767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00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AI-Based Research Paper Novelty Assessment System Using Retrieval-</a:t>
            </a:r>
            <a:endParaRPr lang="en-IN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  <a:p>
            <a:r>
              <a:rPr lang="en-IN" sz="1800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Augmented Generation (RAG)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Footer Placeholder 11"/>
          <p:cNvSpPr>
            <a:spLocks noGrp="1"/>
          </p:cNvSpPr>
          <p:nvPr>
            <p:ph type="ftr" sz="quarter" idx="11"/>
          </p:nvPr>
        </p:nvSpPr>
        <p:spPr>
          <a:xfrm>
            <a:off x="3999271" y="6460922"/>
            <a:ext cx="4114800" cy="365125"/>
          </a:xfrm>
        </p:spPr>
        <p:txBody>
          <a:bodyPr/>
          <a:lstStyle/>
          <a:p>
            <a:r>
              <a:rPr lang="en-IN" dirty="0">
                <a:solidFill>
                  <a:schemeClr val="tx1"/>
                </a:solidFill>
              </a:rPr>
              <a:t>Dept. CSM @ VVIT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 flipH="1">
            <a:off x="135928" y="1326501"/>
            <a:ext cx="119201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 Proposed Method | Data &amp; Setup | key Results | Strengths &amp; Limitations 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| Relevance to my research |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082799" y="862390"/>
            <a:ext cx="1002070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/>
              <a:t>Ref 02 – 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Harnessing Large Language Models for Scientific Novelty Detection</a:t>
            </a:r>
            <a:b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Yan Liu et al., 2025 | arXiv </a:t>
            </a:r>
            <a:endParaRPr lang="en-IN" sz="1400" dirty="0"/>
          </a:p>
        </p:txBody>
      </p:sp>
      <p:sp>
        <p:nvSpPr>
          <p:cNvPr id="18" name="TextBox 17"/>
          <p:cNvSpPr txBox="1"/>
          <p:nvPr/>
        </p:nvSpPr>
        <p:spPr>
          <a:xfrm>
            <a:off x="104186" y="1966347"/>
            <a:ext cx="11920141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Idea-level similarity: The paper shows that novelty assessment should focus on the research idea and concept, not only on textual similarity.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LLM + RAG: Its combination of an LLM with RAG provides a useful approach for comparing a new research paper with existing literature.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retrieval: The LLM-based knowledge distillation retriever can help our system retrieve papers with similar research ideas, even when their wording is different.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Novelty scoring: The approach of comparing a target idea with retrieved ideas and assigning novelty scores can be adapted to our project.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Basis for our system: This reference supports our proposed system by showing how conceptual retrieval and LLM-based cross-checking can be used together for automated research-paper novelty assessment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-1" y="6980"/>
            <a:ext cx="12192000" cy="837398"/>
          </a:xfrm>
          <a:prstGeom prst="rect">
            <a:avLst/>
          </a:prstGeom>
          <a:solidFill>
            <a:srgbClr val="E77E69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6461677"/>
            <a:ext cx="12192000" cy="393289"/>
          </a:xfrm>
          <a:prstGeom prst="rect">
            <a:avLst/>
          </a:prstGeom>
          <a:solidFill>
            <a:srgbClr val="E77E69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Date Placeholder 10"/>
          <p:cNvSpPr>
            <a:spLocks noGrp="1"/>
          </p:cNvSpPr>
          <p:nvPr>
            <p:ph type="dt" sz="half" idx="10"/>
          </p:nvPr>
        </p:nvSpPr>
        <p:spPr>
          <a:xfrm>
            <a:off x="0" y="6460922"/>
            <a:ext cx="997974" cy="365125"/>
          </a:xfrm>
        </p:spPr>
        <p:txBody>
          <a:bodyPr/>
          <a:lstStyle/>
          <a:p>
            <a:r>
              <a:rPr lang="en-IN" dirty="0">
                <a:solidFill>
                  <a:schemeClr val="tx1"/>
                </a:solidFill>
              </a:rPr>
              <a:t>23-09-2026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>
          <a:xfrm>
            <a:off x="11227443" y="6478792"/>
            <a:ext cx="876067" cy="379208"/>
          </a:xfrm>
        </p:spPr>
        <p:txBody>
          <a:bodyPr/>
          <a:lstStyle/>
          <a:p>
            <a:fld id="{0F06A4E2-163B-4ABA-8562-AD05AC3F17C5}" type="slidenum">
              <a:rPr lang="en-IN" sz="1800" smtClean="0">
                <a:solidFill>
                  <a:schemeClr val="tx1"/>
                </a:solidFill>
              </a:rPr>
            </a:fld>
            <a:endParaRPr lang="en-IN" sz="1800" dirty="0">
              <a:solidFill>
                <a:schemeClr val="tx1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 flipH="1">
            <a:off x="135928" y="877163"/>
            <a:ext cx="20638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8253248" y="31393"/>
            <a:ext cx="385026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Guide: 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Dr.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 . Srinivasa Rao</a:t>
            </a: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Batch ID: AIML-B06</a:t>
            </a: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Regd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No#1 </a:t>
            </a:r>
            <a:r>
              <a:rPr lang="en-IN" sz="1200" dirty="0"/>
              <a:t>23BQ1A61A6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          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Regd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No#2 </a:t>
            </a:r>
            <a:r>
              <a:rPr lang="en-IN" sz="1200" dirty="0"/>
              <a:t>23BQ1A6171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Regd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No#3 </a:t>
            </a:r>
            <a:r>
              <a:rPr lang="en-IN" sz="1200" dirty="0"/>
              <a:t>23BQ1A6156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          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Regd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No#4 </a:t>
            </a:r>
            <a:r>
              <a:rPr lang="en-IN" sz="1200" dirty="0"/>
              <a:t>23BQ1A6158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endParaRPr lang="en-IN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86" y="92353"/>
            <a:ext cx="993618" cy="69346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097804" y="82617"/>
            <a:ext cx="70669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IN" sz="1800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AI-Based Research Paper Novelty Assessment System Using Retrieval-Augmented Generation (RAG)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Footer Placeholder 11"/>
          <p:cNvSpPr>
            <a:spLocks noGrp="1"/>
          </p:cNvSpPr>
          <p:nvPr>
            <p:ph type="ftr" sz="quarter" idx="11"/>
          </p:nvPr>
        </p:nvSpPr>
        <p:spPr>
          <a:xfrm>
            <a:off x="3999271" y="6460922"/>
            <a:ext cx="4114800" cy="365125"/>
          </a:xfrm>
        </p:spPr>
        <p:txBody>
          <a:bodyPr/>
          <a:lstStyle/>
          <a:p>
            <a:r>
              <a:rPr lang="en-IN" dirty="0">
                <a:solidFill>
                  <a:schemeClr val="tx1"/>
                </a:solidFill>
              </a:rPr>
              <a:t>Dept. CSM @ VVIT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 flipH="1">
            <a:off x="135928" y="1326501"/>
            <a:ext cx="119201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| Proposed Method | </a:t>
            </a:r>
            <a:r>
              <a:rPr lang="en-IN" sz="14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&amp; Setup | key Results | Strengths &amp; Limitations | Relevance to my research |</a:t>
            </a:r>
            <a:endParaRPr lang="en-IN" sz="1400" dirty="0">
              <a:solidFill>
                <a:schemeClr val="bg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082799" y="862390"/>
            <a:ext cx="1002070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/>
              <a:t>Ref 03 – 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Retrieval-Augmented Generation for Large Language Models: A Survey</a:t>
            </a:r>
            <a:b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Yunfan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Gao et al., 2024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35890" y="2115820"/>
            <a:ext cx="6627495" cy="377380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RAG Framework</a:t>
            </a:r>
            <a:r>
              <a:rPr lang="en-I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paper presents a systematic framework that combines LLM knowledge with information retrieved from external knowledge sources.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Three Main Components</a:t>
            </a:r>
            <a:r>
              <a:rPr lang="en-I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RAG combines Retrieval, Augmentation, and Generation, where relevant information is retrieved and provided to the LLM</a:t>
            </a:r>
            <a:r>
              <a:rPr lang="en-I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Retrieval &amp; Generation</a:t>
            </a:r>
            <a:r>
              <a:rPr lang="en-I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Documents are divided into chunks, converted into embeddings, and stored in a vector database. The Top-K relevant chunks are then combined with the original query to create a context-rich prompt for the LLM.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Evolution of RAG</a:t>
            </a:r>
            <a:r>
              <a:rPr lang="en-I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authors classify RAG into Naive RAG, Advanced RAG, and Modular RAG, with improvements in retrieval, context processing, and system flexibility.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3765" y="2033950"/>
            <a:ext cx="5111359" cy="388958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-1" y="6980"/>
            <a:ext cx="12192000" cy="837398"/>
          </a:xfrm>
          <a:prstGeom prst="rect">
            <a:avLst/>
          </a:prstGeom>
          <a:solidFill>
            <a:srgbClr val="E77E69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6451517"/>
            <a:ext cx="12192000" cy="393289"/>
          </a:xfrm>
          <a:prstGeom prst="rect">
            <a:avLst/>
          </a:prstGeom>
          <a:solidFill>
            <a:srgbClr val="E77E69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Date Placeholder 10"/>
          <p:cNvSpPr>
            <a:spLocks noGrp="1"/>
          </p:cNvSpPr>
          <p:nvPr>
            <p:ph type="dt" sz="half" idx="10"/>
          </p:nvPr>
        </p:nvSpPr>
        <p:spPr>
          <a:xfrm>
            <a:off x="0" y="6460922"/>
            <a:ext cx="997974" cy="365125"/>
          </a:xfrm>
        </p:spPr>
        <p:txBody>
          <a:bodyPr/>
          <a:lstStyle/>
          <a:p>
            <a:r>
              <a:rPr lang="en-IN" dirty="0">
                <a:solidFill>
                  <a:schemeClr val="tx1"/>
                </a:solidFill>
              </a:rPr>
              <a:t>23-09-2026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>
          <a:xfrm>
            <a:off x="11227443" y="6478792"/>
            <a:ext cx="876067" cy="379208"/>
          </a:xfrm>
        </p:spPr>
        <p:txBody>
          <a:bodyPr/>
          <a:lstStyle/>
          <a:p>
            <a:fld id="{0F06A4E2-163B-4ABA-8562-AD05AC3F17C5}" type="slidenum">
              <a:rPr lang="en-IN" sz="1800" smtClean="0">
                <a:solidFill>
                  <a:schemeClr val="tx1"/>
                </a:solidFill>
              </a:rPr>
            </a:fld>
            <a:endParaRPr lang="en-IN" sz="1800" dirty="0">
              <a:solidFill>
                <a:schemeClr val="tx1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 flipH="1">
            <a:off x="135928" y="877163"/>
            <a:ext cx="20638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8300544" y="31393"/>
            <a:ext cx="380296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Guide: 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Dr.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 . Srinivasa Rao</a:t>
            </a: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Batch ID: AIML-B06</a:t>
            </a: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Regd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No#1 </a:t>
            </a:r>
            <a:r>
              <a:rPr lang="en-IN" sz="1200" dirty="0"/>
              <a:t>23BQ1A61A6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          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Regd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No#2 </a:t>
            </a:r>
            <a:r>
              <a:rPr lang="en-IN" sz="1200" dirty="0"/>
              <a:t>23BQ1A6171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Regd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No#3 </a:t>
            </a:r>
            <a:r>
              <a:rPr lang="en-IN" sz="1200" dirty="0"/>
              <a:t>23BQ1A6156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          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Regd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No#4 </a:t>
            </a:r>
            <a:r>
              <a:rPr lang="en-IN" sz="1200" dirty="0"/>
              <a:t>23BQ1A6158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endParaRPr lang="en-IN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86" y="92353"/>
            <a:ext cx="993618" cy="69346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097805" y="82617"/>
            <a:ext cx="71142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00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AI-Based Research Paper Novelty Assessment System Using Retrieval-Augmented Generation (RAG)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Footer Placeholder 11"/>
          <p:cNvSpPr>
            <a:spLocks noGrp="1"/>
          </p:cNvSpPr>
          <p:nvPr>
            <p:ph type="ftr" sz="quarter" idx="11"/>
          </p:nvPr>
        </p:nvSpPr>
        <p:spPr>
          <a:xfrm>
            <a:off x="3999271" y="6460922"/>
            <a:ext cx="4114800" cy="365125"/>
          </a:xfrm>
        </p:spPr>
        <p:txBody>
          <a:bodyPr/>
          <a:lstStyle/>
          <a:p>
            <a:r>
              <a:rPr lang="en-IN" dirty="0">
                <a:solidFill>
                  <a:schemeClr val="tx1"/>
                </a:solidFill>
              </a:rPr>
              <a:t>Dept. CSM @ VVIT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 flipH="1">
            <a:off x="135928" y="1326501"/>
            <a:ext cx="119201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 Proposed Method 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| Data &amp; Setup | </a:t>
            </a:r>
            <a:r>
              <a:rPr lang="en-IN" sz="14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Results | Strengths &amp; Limitations | Relevance to my research |</a:t>
            </a:r>
            <a:endParaRPr lang="en-IN" sz="1400" dirty="0">
              <a:solidFill>
                <a:schemeClr val="bg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082799" y="862390"/>
            <a:ext cx="1002070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/>
              <a:t>Ref 03 – 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Retrieval-Augmented Generation for Large Language Models: A Survey</a:t>
            </a:r>
            <a:b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Yunfan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Gao et al., 2024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IN" sz="1400" dirty="0"/>
          </a:p>
        </p:txBody>
      </p:sp>
      <p:sp>
        <p:nvSpPr>
          <p:cNvPr id="18" name="TextBox 17"/>
          <p:cNvSpPr txBox="1"/>
          <p:nvPr/>
        </p:nvSpPr>
        <p:spPr>
          <a:xfrm>
            <a:off x="358140" y="1857375"/>
            <a:ext cx="11443335" cy="373507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survey analyzes more than 100 RAG studies to provide a systematic overview of existing RAG methods and their development.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organizes RAG research around three major components: Retrieval, Generation, and Augmentation.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survey considers different types of external knowledge sources, including text, PDF documents, databases, and knowledge graphs.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 retrieval granularities are discussed, ranging from tokens, sentences, and chunks to complete documents, depending on the application.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evaluation, the authors summarize 26 downstream tasks and nearly 50 datasets, along with their evaluation objectives and metrics.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survey also reviews existing benchmarks, evaluation methods, and tools used to measure the performance of RAG systems.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-1" y="6980"/>
            <a:ext cx="12192000" cy="837398"/>
          </a:xfrm>
          <a:prstGeom prst="rect">
            <a:avLst/>
          </a:prstGeom>
          <a:solidFill>
            <a:srgbClr val="E77E69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6451517"/>
            <a:ext cx="12192000" cy="393289"/>
          </a:xfrm>
          <a:prstGeom prst="rect">
            <a:avLst/>
          </a:prstGeom>
          <a:solidFill>
            <a:srgbClr val="E77E69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Date Placeholder 10"/>
          <p:cNvSpPr>
            <a:spLocks noGrp="1"/>
          </p:cNvSpPr>
          <p:nvPr>
            <p:ph type="dt" sz="half" idx="10"/>
          </p:nvPr>
        </p:nvSpPr>
        <p:spPr>
          <a:xfrm>
            <a:off x="0" y="6460922"/>
            <a:ext cx="997974" cy="365125"/>
          </a:xfrm>
        </p:spPr>
        <p:txBody>
          <a:bodyPr/>
          <a:lstStyle/>
          <a:p>
            <a:r>
              <a:rPr lang="en-IN" dirty="0">
                <a:solidFill>
                  <a:schemeClr val="tx1"/>
                </a:solidFill>
              </a:rPr>
              <a:t>23-09-2026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>
          <a:xfrm>
            <a:off x="11227443" y="6478792"/>
            <a:ext cx="876067" cy="379208"/>
          </a:xfrm>
        </p:spPr>
        <p:txBody>
          <a:bodyPr/>
          <a:lstStyle/>
          <a:p>
            <a:fld id="{0F06A4E2-163B-4ABA-8562-AD05AC3F17C5}" type="slidenum">
              <a:rPr lang="en-IN" sz="1800" smtClean="0">
                <a:solidFill>
                  <a:schemeClr val="tx1"/>
                </a:solidFill>
              </a:rPr>
            </a:fld>
            <a:endParaRPr lang="en-IN" sz="1800" dirty="0">
              <a:solidFill>
                <a:schemeClr val="tx1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 flipH="1">
            <a:off x="135928" y="877163"/>
            <a:ext cx="20638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8269014" y="31393"/>
            <a:ext cx="383449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Guide: 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Dr.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 . Srinivasa Rao</a:t>
            </a: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Batch ID: AIML-B06</a:t>
            </a: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Regd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No#1 </a:t>
            </a:r>
            <a:r>
              <a:rPr lang="en-IN" sz="1200" dirty="0"/>
              <a:t>23BQ1A61A6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          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Regd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No#2 </a:t>
            </a:r>
            <a:r>
              <a:rPr lang="en-IN" sz="1200" dirty="0"/>
              <a:t>23BQ1A6171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Regd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No#3 </a:t>
            </a:r>
            <a:r>
              <a:rPr lang="en-IN" sz="1200" dirty="0"/>
              <a:t>23BQ1A6156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          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Regd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No#4 </a:t>
            </a:r>
            <a:r>
              <a:rPr lang="en-IN" sz="1200" dirty="0"/>
              <a:t>23BQ1A6158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endParaRPr lang="en-IN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86" y="92353"/>
            <a:ext cx="993618" cy="69346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097805" y="82617"/>
            <a:ext cx="71712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00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AI-Based Research Paper Novelty Assessment System Using Retrieval-Augmented Generation (RAG)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Footer Placeholder 11"/>
          <p:cNvSpPr>
            <a:spLocks noGrp="1"/>
          </p:cNvSpPr>
          <p:nvPr>
            <p:ph type="ftr" sz="quarter" idx="11"/>
          </p:nvPr>
        </p:nvSpPr>
        <p:spPr>
          <a:xfrm>
            <a:off x="3999271" y="6460922"/>
            <a:ext cx="4114800" cy="365125"/>
          </a:xfrm>
        </p:spPr>
        <p:txBody>
          <a:bodyPr/>
          <a:lstStyle/>
          <a:p>
            <a:r>
              <a:rPr lang="en-IN" dirty="0">
                <a:solidFill>
                  <a:schemeClr val="tx1"/>
                </a:solidFill>
              </a:rPr>
              <a:t>Dept. CSM @ VVIT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 flipH="1">
            <a:off x="135928" y="1326501"/>
            <a:ext cx="119201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 Proposed Method | Data &amp; Setup 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| key Results | </a:t>
            </a:r>
            <a:r>
              <a:rPr lang="en-IN" sz="14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Strengths &amp; Limitations | Relevance to my research |</a:t>
            </a:r>
            <a:endParaRPr lang="en-IN" sz="1400" dirty="0">
              <a:solidFill>
                <a:schemeClr val="bg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082799" y="862390"/>
            <a:ext cx="1002070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/>
              <a:t>Ref 03 – 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Retrieval-Augmented Generation for Large Language Models: A Survey</a:t>
            </a:r>
            <a:b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Yunfan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Gao et al., 2024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IN" sz="1400" dirty="0"/>
          </a:p>
        </p:txBody>
      </p:sp>
      <p:sp>
        <p:nvSpPr>
          <p:cNvPr id="18" name="TextBox 17"/>
          <p:cNvSpPr txBox="1"/>
          <p:nvPr/>
        </p:nvSpPr>
        <p:spPr>
          <a:xfrm>
            <a:off x="135890" y="2001520"/>
            <a:ext cx="7896860" cy="39852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survey shows that RAG has developed rapidly from basic retrieval methods to more advanced and flexible architectures.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RAG research is broadly organized into Naive RAG, Advanced RAG, and Modular RAG, with each stage improving retrieval, generation, and system flexibility.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study finds that retrieval quality is a major factor in overall RAG performance, making indexing, query optimization, embeddings, and re-ranking important.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survey identifies 26 downstream tasks and nearly 50 datasets, showing that RAG is being applied across a wide range of applications.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authors highlight evaluation frameworks and tools such as RGB, RECALL, RAGAS, ARES, TruLens, and CRUD for measuring retrieval and generation quality.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14071" y="1793923"/>
            <a:ext cx="3578662" cy="424928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-1" y="6980"/>
            <a:ext cx="12192000" cy="837398"/>
          </a:xfrm>
          <a:prstGeom prst="rect">
            <a:avLst/>
          </a:prstGeom>
          <a:solidFill>
            <a:srgbClr val="E77E69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6451517"/>
            <a:ext cx="12192000" cy="393289"/>
          </a:xfrm>
          <a:prstGeom prst="rect">
            <a:avLst/>
          </a:prstGeom>
          <a:solidFill>
            <a:srgbClr val="E77E69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Date Placeholder 10"/>
          <p:cNvSpPr>
            <a:spLocks noGrp="1"/>
          </p:cNvSpPr>
          <p:nvPr>
            <p:ph type="dt" sz="half" idx="10"/>
          </p:nvPr>
        </p:nvSpPr>
        <p:spPr>
          <a:xfrm>
            <a:off x="0" y="6460922"/>
            <a:ext cx="997974" cy="365125"/>
          </a:xfrm>
        </p:spPr>
        <p:txBody>
          <a:bodyPr/>
          <a:lstStyle/>
          <a:p>
            <a:r>
              <a:rPr lang="en-IN" dirty="0">
                <a:solidFill>
                  <a:schemeClr val="tx1"/>
                </a:solidFill>
              </a:rPr>
              <a:t>23-09-2026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>
          <a:xfrm>
            <a:off x="11227443" y="6478792"/>
            <a:ext cx="876067" cy="379208"/>
          </a:xfrm>
        </p:spPr>
        <p:txBody>
          <a:bodyPr/>
          <a:lstStyle/>
          <a:p>
            <a:fld id="{0F06A4E2-163B-4ABA-8562-AD05AC3F17C5}" type="slidenum">
              <a:rPr lang="en-IN" sz="1800" smtClean="0">
                <a:solidFill>
                  <a:schemeClr val="tx1"/>
                </a:solidFill>
              </a:rPr>
            </a:fld>
            <a:endParaRPr lang="en-IN" sz="1800" dirty="0">
              <a:solidFill>
                <a:schemeClr val="tx1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 flipH="1">
            <a:off x="135928" y="877163"/>
            <a:ext cx="20638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8292662" y="31393"/>
            <a:ext cx="381084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Guide: 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Dr.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 . Srinivasa Rao</a:t>
            </a: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Batch ID: AIML-B06</a:t>
            </a: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Regd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No#1 </a:t>
            </a:r>
            <a:r>
              <a:rPr lang="en-IN" sz="1200" dirty="0"/>
              <a:t>23BQ1A61A6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          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Regd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No#2 </a:t>
            </a:r>
            <a:r>
              <a:rPr lang="en-IN" sz="1200" dirty="0"/>
              <a:t>23BQ1A6171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Regd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No#3 </a:t>
            </a:r>
            <a:r>
              <a:rPr lang="en-IN" sz="1200" dirty="0"/>
              <a:t>23BQ1A6156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          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Regd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No#4 </a:t>
            </a:r>
            <a:r>
              <a:rPr lang="en-IN" sz="1200" dirty="0"/>
              <a:t>23BQ1A6158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endParaRPr lang="en-IN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86" y="92353"/>
            <a:ext cx="993618" cy="69346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097805" y="82617"/>
            <a:ext cx="71948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00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AI-Based Research Paper Novelty Assessment System Using Retrieval-Augmented Generation (RAG)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Footer Placeholder 11"/>
          <p:cNvSpPr>
            <a:spLocks noGrp="1"/>
          </p:cNvSpPr>
          <p:nvPr>
            <p:ph type="ftr" sz="quarter" idx="11"/>
          </p:nvPr>
        </p:nvSpPr>
        <p:spPr>
          <a:xfrm>
            <a:off x="3999271" y="6460922"/>
            <a:ext cx="4114800" cy="365125"/>
          </a:xfrm>
        </p:spPr>
        <p:txBody>
          <a:bodyPr/>
          <a:lstStyle/>
          <a:p>
            <a:r>
              <a:rPr lang="en-IN" dirty="0">
                <a:solidFill>
                  <a:schemeClr val="tx1"/>
                </a:solidFill>
              </a:rPr>
              <a:t>Dept. CSM @ VVIT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 flipH="1">
            <a:off x="135928" y="1326501"/>
            <a:ext cx="119201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 Proposed Method | Data &amp; Setup | key Results 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| Strengths &amp; Limitations | </a:t>
            </a:r>
            <a:r>
              <a:rPr lang="en-IN" sz="14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Relevance to my research |</a:t>
            </a:r>
            <a:endParaRPr lang="en-IN" sz="1400" dirty="0">
              <a:solidFill>
                <a:schemeClr val="bg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082799" y="862390"/>
            <a:ext cx="1002070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/>
              <a:t>Ref 03 – 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Retrieval-Augmented Generation for Large Language Models: A Survey</a:t>
            </a:r>
            <a:b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Yunfan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Gao et al., 2024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IN" sz="1400" dirty="0"/>
          </a:p>
        </p:txBody>
      </p:sp>
      <p:sp>
        <p:nvSpPr>
          <p:cNvPr id="7" name="Rounded Rectangle 6"/>
          <p:cNvSpPr/>
          <p:nvPr/>
        </p:nvSpPr>
        <p:spPr>
          <a:xfrm>
            <a:off x="264160" y="2194560"/>
            <a:ext cx="5699760" cy="3749040"/>
          </a:xfrm>
          <a:prstGeom prst="roundRect">
            <a:avLst>
              <a:gd name="adj" fmla="val 3659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Comprehensive survey: Reviews over 100 RAG studies and organizes the field into a clear framework.</a:t>
            </a:r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Wide coverage: Covers Retrieval, Generation, and Augmentation, along with RAG tasks, datasets, benchmarks, and evaluation methods.</a:t>
            </a:r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Practical guidance: Discusses different RAG approaches, their applications, challenges, and future research directions.</a:t>
            </a:r>
            <a:endParaRPr lang="en-IN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6146800" y="2194560"/>
            <a:ext cx="5699760" cy="3749040"/>
          </a:xfrm>
          <a:prstGeom prst="roundRect">
            <a:avLst>
              <a:gd name="adj" fmla="val 3659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Survey-based study: The paper mainly summarizes existing research and does not propose a new novelty-assessment system.</a:t>
            </a:r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Rapidly changing field: New RAG techniques and LLM developments can quickly make parts of the survey outdated.</a:t>
            </a:r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Retrieval challenges: Noise or contradictory information in retrieved documents can negatively affect the generated output.</a:t>
            </a:r>
            <a:endParaRPr lang="en-IN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259202" y="2148841"/>
            <a:ext cx="5441307" cy="45719"/>
          </a:xfrm>
          <a:prstGeom prst="rect">
            <a:avLst/>
          </a:prstGeom>
          <a:solidFill>
            <a:srgbClr val="EC7E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Rectangle 18"/>
          <p:cNvSpPr/>
          <p:nvPr/>
        </p:nvSpPr>
        <p:spPr>
          <a:xfrm>
            <a:off x="393386" y="2148841"/>
            <a:ext cx="5441307" cy="45719"/>
          </a:xfrm>
          <a:prstGeom prst="rect">
            <a:avLst/>
          </a:prstGeom>
          <a:solidFill>
            <a:srgbClr val="EC7E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Box 8"/>
          <p:cNvSpPr txBox="1"/>
          <p:nvPr/>
        </p:nvSpPr>
        <p:spPr>
          <a:xfrm>
            <a:off x="393386" y="1799012"/>
            <a:ext cx="10758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Strengths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259202" y="1779509"/>
            <a:ext cx="12490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-1" y="6980"/>
            <a:ext cx="12192000" cy="837398"/>
          </a:xfrm>
          <a:prstGeom prst="rect">
            <a:avLst/>
          </a:prstGeom>
          <a:solidFill>
            <a:srgbClr val="E77E69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6451517"/>
            <a:ext cx="12192000" cy="393289"/>
          </a:xfrm>
          <a:prstGeom prst="rect">
            <a:avLst/>
          </a:prstGeom>
          <a:solidFill>
            <a:srgbClr val="E77E69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Date Placeholder 10"/>
          <p:cNvSpPr>
            <a:spLocks noGrp="1"/>
          </p:cNvSpPr>
          <p:nvPr>
            <p:ph type="dt" sz="half" idx="10"/>
          </p:nvPr>
        </p:nvSpPr>
        <p:spPr>
          <a:xfrm>
            <a:off x="0" y="6460922"/>
            <a:ext cx="997974" cy="365125"/>
          </a:xfrm>
        </p:spPr>
        <p:txBody>
          <a:bodyPr/>
          <a:lstStyle/>
          <a:p>
            <a:r>
              <a:rPr lang="en-IN" dirty="0">
                <a:solidFill>
                  <a:schemeClr val="tx1"/>
                </a:solidFill>
              </a:rPr>
              <a:t>23-09-2026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>
          <a:xfrm>
            <a:off x="11227443" y="6478792"/>
            <a:ext cx="876067" cy="379208"/>
          </a:xfrm>
        </p:spPr>
        <p:txBody>
          <a:bodyPr/>
          <a:lstStyle/>
          <a:p>
            <a:fld id="{0F06A4E2-163B-4ABA-8562-AD05AC3F17C5}" type="slidenum">
              <a:rPr lang="en-IN" sz="1800" smtClean="0">
                <a:solidFill>
                  <a:schemeClr val="tx1"/>
                </a:solidFill>
              </a:rPr>
            </a:fld>
            <a:endParaRPr lang="en-IN" sz="1800" dirty="0">
              <a:solidFill>
                <a:schemeClr val="tx1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 flipH="1">
            <a:off x="135928" y="877163"/>
            <a:ext cx="20638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8292662" y="31393"/>
            <a:ext cx="381084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Guide: 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Dr.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 . Srinivasa Rao</a:t>
            </a: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Batch ID: AIML-B06</a:t>
            </a: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Regd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No#1 </a:t>
            </a:r>
            <a:r>
              <a:rPr lang="en-IN" sz="1200" dirty="0"/>
              <a:t>23BQ1A61A6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          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Regd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No#2 </a:t>
            </a:r>
            <a:r>
              <a:rPr lang="en-IN" sz="1200" dirty="0"/>
              <a:t>23BQ1A6171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Regd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No#3 </a:t>
            </a:r>
            <a:r>
              <a:rPr lang="en-IN" sz="1200" dirty="0"/>
              <a:t>23BQ1A6156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          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Regd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No#4 </a:t>
            </a:r>
            <a:r>
              <a:rPr lang="en-IN" sz="1200" dirty="0"/>
              <a:t>23BQ1A6158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endParaRPr lang="en-IN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86" y="92353"/>
            <a:ext cx="993618" cy="69346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097805" y="82617"/>
            <a:ext cx="71063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00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AI-Based Research Paper Novelty Assessment System Using Retrieval-Augmented Generation (RAG)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Footer Placeholder 11"/>
          <p:cNvSpPr>
            <a:spLocks noGrp="1"/>
          </p:cNvSpPr>
          <p:nvPr>
            <p:ph type="ftr" sz="quarter" idx="11"/>
          </p:nvPr>
        </p:nvSpPr>
        <p:spPr>
          <a:xfrm>
            <a:off x="3999271" y="6460922"/>
            <a:ext cx="4114800" cy="365125"/>
          </a:xfrm>
        </p:spPr>
        <p:txBody>
          <a:bodyPr/>
          <a:lstStyle/>
          <a:p>
            <a:r>
              <a:rPr lang="en-IN" dirty="0">
                <a:solidFill>
                  <a:schemeClr val="tx1"/>
                </a:solidFill>
              </a:rPr>
              <a:t>Dept. CSM @ VVIT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 flipH="1">
            <a:off x="135928" y="1326501"/>
            <a:ext cx="119201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 Proposed Method | Data &amp; Setup | key Results | Strengths &amp; Limitations 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| Relevance to my research |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082799" y="862390"/>
            <a:ext cx="1002070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/>
              <a:t>Ref 03 – 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Retrieval-Augmented Generation for Large Language Models: A Survey</a:t>
            </a:r>
            <a:b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Yunfan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Gao et al., 2024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IN" sz="1400" dirty="0"/>
          </a:p>
        </p:txBody>
      </p:sp>
      <p:sp>
        <p:nvSpPr>
          <p:cNvPr id="18" name="TextBox 17"/>
          <p:cNvSpPr txBox="1"/>
          <p:nvPr/>
        </p:nvSpPr>
        <p:spPr>
          <a:xfrm>
            <a:off x="414020" y="1741170"/>
            <a:ext cx="11311890" cy="345249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RAG framework: The paper provides the basic RAG architecture that can be used to build our research-paper novelty assessment system.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Effective retrieval: Its discussion of document retrieval, embeddings, indexing, and re-ranking helps in selecting relevant research papers for comparison.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Context augmentation: The retrieved research papers can be added as context to the LLM, helping it analyze a new paper using existing literature.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Evaluation methods: The survey provides different RAG evaluation techniques and metrics that can guide the evaluation of our proposed system.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improvement: The discussed challenges such as retrieval noise, irrelevant information, and robustness can be considered while designing our novelty assessment system.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-1" y="6980"/>
            <a:ext cx="12192000" cy="837398"/>
          </a:xfrm>
          <a:prstGeom prst="rect">
            <a:avLst/>
          </a:prstGeom>
          <a:solidFill>
            <a:srgbClr val="E77E69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6451517"/>
            <a:ext cx="12192000" cy="393289"/>
          </a:xfrm>
          <a:prstGeom prst="rect">
            <a:avLst/>
          </a:prstGeom>
          <a:solidFill>
            <a:srgbClr val="E77E69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Date Placeholder 10"/>
          <p:cNvSpPr>
            <a:spLocks noGrp="1"/>
          </p:cNvSpPr>
          <p:nvPr>
            <p:ph type="dt" sz="half" idx="10"/>
          </p:nvPr>
        </p:nvSpPr>
        <p:spPr>
          <a:xfrm>
            <a:off x="0" y="6460922"/>
            <a:ext cx="997974" cy="365125"/>
          </a:xfrm>
        </p:spPr>
        <p:txBody>
          <a:bodyPr/>
          <a:lstStyle/>
          <a:p>
            <a:r>
              <a:rPr lang="en-IN" dirty="0">
                <a:solidFill>
                  <a:schemeClr val="tx1"/>
                </a:solidFill>
              </a:rPr>
              <a:t>23-09-2026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>
          <a:xfrm>
            <a:off x="11227443" y="6478792"/>
            <a:ext cx="876067" cy="379208"/>
          </a:xfrm>
        </p:spPr>
        <p:txBody>
          <a:bodyPr/>
          <a:lstStyle/>
          <a:p>
            <a:fld id="{0F06A4E2-163B-4ABA-8562-AD05AC3F17C5}" type="slidenum">
              <a:rPr lang="en-IN" sz="1800" smtClean="0">
                <a:solidFill>
                  <a:schemeClr val="tx1"/>
                </a:solidFill>
              </a:rPr>
            </a:fld>
            <a:endParaRPr lang="en-IN" sz="1800" dirty="0">
              <a:solidFill>
                <a:schemeClr val="tx1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 flipH="1">
            <a:off x="135927" y="877163"/>
            <a:ext cx="716769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 - Summary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8269014" y="31393"/>
            <a:ext cx="383449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Guide: 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Dr.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 . Srinivasa Rao</a:t>
            </a: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Batch ID: AIML-B06</a:t>
            </a: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Regd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No#1 </a:t>
            </a:r>
            <a:r>
              <a:rPr lang="en-IN" sz="1200" dirty="0"/>
              <a:t>23BQ1A61A6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          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Regd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No#2 </a:t>
            </a:r>
            <a:r>
              <a:rPr lang="en-IN" sz="1200" dirty="0"/>
              <a:t>23BQ1A6171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Regd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No#3 </a:t>
            </a:r>
            <a:r>
              <a:rPr lang="en-IN" sz="1200" dirty="0"/>
              <a:t>23BQ1A6156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          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Regd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No#4 </a:t>
            </a:r>
            <a:r>
              <a:rPr lang="en-IN" sz="1200" dirty="0"/>
              <a:t>23BQ1A6158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endParaRPr lang="en-IN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86" y="92353"/>
            <a:ext cx="993618" cy="69346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097805" y="82617"/>
            <a:ext cx="71712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00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AI-Based Research Paper Novelty Assessment System Using Retrieval-Augmented Generation (RAG)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Footer Placeholder 11"/>
          <p:cNvSpPr>
            <a:spLocks noGrp="1"/>
          </p:cNvSpPr>
          <p:nvPr>
            <p:ph type="ftr" sz="quarter" idx="11"/>
          </p:nvPr>
        </p:nvSpPr>
        <p:spPr>
          <a:xfrm>
            <a:off x="3999271" y="6460922"/>
            <a:ext cx="4114800" cy="365125"/>
          </a:xfrm>
        </p:spPr>
        <p:txBody>
          <a:bodyPr/>
          <a:lstStyle/>
          <a:p>
            <a:r>
              <a:rPr lang="en-IN" dirty="0">
                <a:solidFill>
                  <a:schemeClr val="tx1"/>
                </a:solidFill>
              </a:rPr>
              <a:t>Dept. CSM @ VVIT</a:t>
            </a:r>
            <a:endParaRPr lang="en-IN" dirty="0">
              <a:solidFill>
                <a:schemeClr val="tx1"/>
              </a:solidFill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custDataLst>
              <p:tags r:id="rId2"/>
            </p:custDataLst>
          </p:nvPr>
        </p:nvGraphicFramePr>
        <p:xfrm>
          <a:off x="571500" y="1437005"/>
          <a:ext cx="11108690" cy="37312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24990"/>
                <a:gridCol w="1324610"/>
                <a:gridCol w="3004820"/>
                <a:gridCol w="2599055"/>
                <a:gridCol w="2355215"/>
              </a:tblGrid>
              <a:tr h="770890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Reference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Year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Main Idea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Strengths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Limitations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967105">
                <a:tc>
                  <a:txBody>
                    <a:bodyPr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Gao et al.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2024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Comprehensive survey of RAG methods and evaluation.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Covers RAG architectures, techniques &amp; benchmarks.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Survey-based; RAG field changes rapidly.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</a:tr>
              <a:tr h="996950"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Lin et al.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2025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RAG-Novelty for scholarly paper novelty assessment.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Uses retrieved papers as context; strong benchmark.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Mainly uses title, abstract &amp; metadata.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</a:tr>
              <a:tr h="996315"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Liu et al.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2025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LLM-based idea-level novelty detection using RAG.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Captures conceptual similarity; effective retrieval.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Depends on LLM-generated ideas and prompts.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-1" y="6980"/>
            <a:ext cx="12192000" cy="837398"/>
          </a:xfrm>
          <a:prstGeom prst="rect">
            <a:avLst/>
          </a:prstGeom>
          <a:solidFill>
            <a:srgbClr val="E77E69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6451517"/>
            <a:ext cx="12192000" cy="393289"/>
          </a:xfrm>
          <a:prstGeom prst="rect">
            <a:avLst/>
          </a:prstGeom>
          <a:solidFill>
            <a:srgbClr val="E77E69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Date Placeholder 10"/>
          <p:cNvSpPr>
            <a:spLocks noGrp="1"/>
          </p:cNvSpPr>
          <p:nvPr>
            <p:ph type="dt" sz="half" idx="10"/>
          </p:nvPr>
        </p:nvSpPr>
        <p:spPr>
          <a:xfrm>
            <a:off x="0" y="6460922"/>
            <a:ext cx="997974" cy="365125"/>
          </a:xfrm>
        </p:spPr>
        <p:txBody>
          <a:bodyPr/>
          <a:lstStyle/>
          <a:p>
            <a:r>
              <a:rPr lang="en-IN" dirty="0">
                <a:solidFill>
                  <a:schemeClr val="tx1"/>
                </a:solidFill>
              </a:rPr>
              <a:t>23-09-2026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>
          <a:xfrm>
            <a:off x="11227443" y="6478792"/>
            <a:ext cx="876067" cy="379208"/>
          </a:xfrm>
        </p:spPr>
        <p:txBody>
          <a:bodyPr/>
          <a:lstStyle/>
          <a:p>
            <a:fld id="{0F06A4E2-163B-4ABA-8562-AD05AC3F17C5}" type="slidenum">
              <a:rPr lang="en-IN" sz="1800" smtClean="0">
                <a:solidFill>
                  <a:schemeClr val="tx1"/>
                </a:solidFill>
              </a:rPr>
            </a:fld>
            <a:endParaRPr lang="en-IN" sz="1800" dirty="0">
              <a:solidFill>
                <a:schemeClr val="tx1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 flipH="1">
            <a:off x="135927" y="877163"/>
            <a:ext cx="716769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Review – 1 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8269014" y="31393"/>
            <a:ext cx="383449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Guide: 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Dr.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 . Srinivasa Rao</a:t>
            </a: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Batch ID: AIML-B06</a:t>
            </a: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Regd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No#1 23BQ1A61A6,          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Regd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No#2 </a:t>
            </a:r>
            <a:r>
              <a:rPr lang="en-IN" sz="1200" dirty="0"/>
              <a:t>23BQ1A6171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Regd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No#3 </a:t>
            </a:r>
            <a:r>
              <a:rPr lang="en-IN" sz="1200" dirty="0"/>
              <a:t>23BQ1A6156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           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Regd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No#4 </a:t>
            </a:r>
            <a:r>
              <a:rPr lang="en-IN" sz="1200" dirty="0"/>
              <a:t>23BQ1A6158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endParaRPr lang="en-IN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86" y="92353"/>
            <a:ext cx="993618" cy="69346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097804" y="44218"/>
            <a:ext cx="70827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: </a:t>
            </a:r>
            <a:r>
              <a:rPr lang="en-IN" sz="1800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AI-Based Research Paper Novelty Assessment System Using Retrieval-Augmented Generation (RAG)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Footer Placeholder 11"/>
          <p:cNvSpPr>
            <a:spLocks noGrp="1"/>
          </p:cNvSpPr>
          <p:nvPr>
            <p:ph type="ftr" sz="quarter" idx="11"/>
          </p:nvPr>
        </p:nvSpPr>
        <p:spPr>
          <a:xfrm>
            <a:off x="3999271" y="6460922"/>
            <a:ext cx="4114800" cy="365125"/>
          </a:xfrm>
        </p:spPr>
        <p:txBody>
          <a:bodyPr/>
          <a:lstStyle/>
          <a:p>
            <a:r>
              <a:rPr lang="en-IN" dirty="0">
                <a:solidFill>
                  <a:schemeClr val="tx1"/>
                </a:solidFill>
              </a:rPr>
              <a:t>Dept. CSM @ VVIT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641448" y="3010622"/>
            <a:ext cx="223651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Questions?</a:t>
            </a: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TABLE_ENDDRAG_ORIGIN_RECT" val="873*293"/>
  <p:tag name="TABLE_ENDDRAG_RECT" val="45*113*873*293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21668</Words>
  <Application>WPS Presentation</Application>
  <PresentationFormat>Widescreen</PresentationFormat>
  <Paragraphs>518</Paragraphs>
  <Slides>19</Slides>
  <Notes>19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28" baseType="lpstr">
      <vt:lpstr>Arial</vt:lpstr>
      <vt:lpstr>SimSun</vt:lpstr>
      <vt:lpstr>Wingdings</vt:lpstr>
      <vt:lpstr>Times New Roman</vt:lpstr>
      <vt:lpstr>Calibri</vt:lpstr>
      <vt:lpstr>Microsoft YaHei</vt:lpstr>
      <vt:lpstr>Arial Unicode MS</vt:lpstr>
      <vt:lpstr>Calibri Light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mualidhar V</dc:creator>
  <cp:lastModifiedBy>aishwarya peram</cp:lastModifiedBy>
  <cp:revision>53</cp:revision>
  <dcterms:created xsi:type="dcterms:W3CDTF">2023-07-18T12:47:00Z</dcterms:created>
  <dcterms:modified xsi:type="dcterms:W3CDTF">2026-09-22T13:23:22Z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8DF06DDE6B4A4ECFA79B78DABAF837BB_12</vt:lpwstr>
  </property>
  <property fmtid="{D5CDD505-2E9C-101B-9397-08002B2CF9AE}" pid="3" name="KSOProductBuildVer">
    <vt:lpwstr>2057-12.2.0.23206</vt:lpwstr>
  </property>
</Properties>
</file>